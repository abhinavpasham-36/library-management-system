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275" r:id="rId6"/>
    <p:sldId id="274"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6" r:id="rId22"/>
    <p:sldId id="259" r:id="rId23"/>
  </p:sldIdLst>
  <p:sldSz cx="12192000" cy="6858000"/>
  <p:notesSz cx="6858000" cy="9144000"/>
  <p:embeddedFontLst>
    <p:embeddedFont>
      <p:font typeface="Lato Black" panose="020F0502020204030203" pitchFamily="34" charset="0"/>
      <p:regular r:id="rId27"/>
    </p:embeddedFont>
    <p:embeddedFont>
      <p:font typeface="Libre Baskerville" panose="0200000000000000000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0000"/>
    <a:srgbClr val="C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90204"/>
              <a:buNone/>
            </a:pPr>
            <a:fld id="{00000000-1234-1234-1234-123412341234}" type="slidenum">
              <a:rPr lang="en-IN"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592" y="0"/>
            <a:ext cx="12190815" cy="6858000"/>
          </a:xfrm>
          <a:prstGeom prst="rect">
            <a:avLst/>
          </a:prstGeom>
          <a:noFill/>
          <a:ln>
            <a:noFill/>
          </a:ln>
        </p:spPr>
      </p:pic>
      <p:sp>
        <p:nvSpPr>
          <p:cNvPr id="99" name="Google Shape;99;p1"/>
          <p:cNvSpPr txBox="1"/>
          <p:nvPr/>
        </p:nvSpPr>
        <p:spPr>
          <a:xfrm>
            <a:off x="2472904" y="3924463"/>
            <a:ext cx="7246189" cy="1323399"/>
          </a:xfrm>
          <a:prstGeom prst="rect">
            <a:avLst/>
          </a:prstGeom>
          <a:noFill/>
          <a:ln>
            <a:noFill/>
          </a:ln>
        </p:spPr>
        <p:txBody>
          <a:bodyPr spcFirstLastPara="1" wrap="square" lIns="91425" tIns="45700" rIns="91425" bIns="45700" anchor="t" anchorCtr="0">
            <a:spAutoFit/>
          </a:bodyPr>
          <a:lstStyle/>
          <a:p>
            <a:pPr lvl="0" algn="ctr">
              <a:buSzPts val="1800"/>
            </a:pPr>
            <a:r>
              <a:rPr lang="en-IN" sz="4000" b="1" dirty="0">
                <a:solidFill>
                  <a:srgbClr val="EA0000"/>
                </a:solidFill>
                <a:latin typeface="Times New Roman" panose="02020503050405090304" pitchFamily="18" charset="0"/>
                <a:cs typeface="Times New Roman" panose="02020503050405090304" pitchFamily="18" charset="0"/>
              </a:rPr>
              <a:t>Library Database Management System</a:t>
            </a:r>
            <a:endParaRPr sz="4000" b="0" i="0" strike="noStrike" cap="none" dirty="0">
              <a:solidFill>
                <a:srgbClr val="EA0000"/>
              </a:solidFill>
              <a:latin typeface="Times New Roman" panose="02020503050405090304" pitchFamily="18" charset="0"/>
              <a:cs typeface="Times New Roman" panose="02020503050405090304" pitchFamily="18" charset="0"/>
              <a:sym typeface="Arial" panose="020B0604020202090204"/>
            </a:endParaRPr>
          </a:p>
        </p:txBody>
      </p:sp>
      <p:sp>
        <p:nvSpPr>
          <p:cNvPr id="2" name="TextBox 1"/>
          <p:cNvSpPr txBox="1"/>
          <p:nvPr/>
        </p:nvSpPr>
        <p:spPr>
          <a:xfrm>
            <a:off x="8794860" y="5380672"/>
            <a:ext cx="2364752" cy="1200329"/>
          </a:xfrm>
          <a:prstGeom prst="rect">
            <a:avLst/>
          </a:prstGeom>
          <a:noFill/>
        </p:spPr>
        <p:txBody>
          <a:bodyPr wrap="square" rtlCol="0">
            <a:spAutoFit/>
          </a:bodyPr>
          <a:lstStyle/>
          <a:p>
            <a:r>
              <a:rPr lang="en-IN" sz="1800" dirty="0">
                <a:solidFill>
                  <a:schemeClr val="tx1"/>
                </a:solidFill>
                <a:latin typeface="Times New Roman" panose="02020503050405090304" pitchFamily="18" charset="0"/>
                <a:cs typeface="Times New Roman" panose="02020503050405090304" pitchFamily="18" charset="0"/>
              </a:rPr>
              <a:t>Batch No : 460</a:t>
            </a:r>
            <a:endParaRPr lang="en-IN" sz="1800" dirty="0">
              <a:solidFill>
                <a:schemeClr val="tx1"/>
              </a:solidFill>
              <a:latin typeface="Times New Roman" panose="02020503050405090304" pitchFamily="18" charset="0"/>
              <a:cs typeface="Times New Roman" panose="02020503050405090304" pitchFamily="18" charset="0"/>
            </a:endParaRPr>
          </a:p>
          <a:p>
            <a:r>
              <a:rPr lang="en-IN" sz="1800" dirty="0">
                <a:solidFill>
                  <a:schemeClr val="tx1"/>
                </a:solidFill>
                <a:latin typeface="Times New Roman" panose="02020503050405090304" pitchFamily="18" charset="0"/>
                <a:cs typeface="Times New Roman" panose="02020503050405090304" pitchFamily="18" charset="0"/>
              </a:rPr>
              <a:t>Tharun Tej Kilari</a:t>
            </a:r>
            <a:endParaRPr lang="en-IN" sz="1800" dirty="0">
              <a:solidFill>
                <a:schemeClr val="tx1"/>
              </a:solidFill>
              <a:latin typeface="Times New Roman" panose="02020503050405090304" pitchFamily="18" charset="0"/>
              <a:cs typeface="Times New Roman" panose="02020503050405090304" pitchFamily="18" charset="0"/>
            </a:endParaRPr>
          </a:p>
          <a:p>
            <a:r>
              <a:rPr lang="en-IN" sz="1800" dirty="0">
                <a:solidFill>
                  <a:schemeClr val="tx1"/>
                </a:solidFill>
                <a:latin typeface="Times New Roman" panose="02020503050405090304" pitchFamily="18" charset="0"/>
                <a:cs typeface="Times New Roman" panose="02020503050405090304" pitchFamily="18" charset="0"/>
              </a:rPr>
              <a:t>Abhinav Reddy </a:t>
            </a:r>
            <a:endParaRPr lang="en-IN" sz="1800" dirty="0">
              <a:solidFill>
                <a:schemeClr val="tx1"/>
              </a:solidFill>
              <a:latin typeface="Times New Roman" panose="02020503050405090304" pitchFamily="18" charset="0"/>
              <a:cs typeface="Times New Roman" panose="02020503050405090304" pitchFamily="18" charset="0"/>
            </a:endParaRPr>
          </a:p>
          <a:p>
            <a:r>
              <a:rPr lang="en-IN" sz="1800" dirty="0">
                <a:solidFill>
                  <a:schemeClr val="tx1"/>
                </a:solidFill>
                <a:latin typeface="Times New Roman" panose="02020503050405090304" pitchFamily="18" charset="0"/>
                <a:cs typeface="Times New Roman" panose="02020503050405090304" pitchFamily="18" charset="0"/>
              </a:rPr>
              <a:t>Varun </a:t>
            </a:r>
            <a:r>
              <a:rPr lang="en-IN" sz="1800" dirty="0" err="1">
                <a:solidFill>
                  <a:schemeClr val="tx1"/>
                </a:solidFill>
                <a:latin typeface="Times New Roman" panose="02020503050405090304" pitchFamily="18" charset="0"/>
                <a:cs typeface="Times New Roman" panose="02020503050405090304" pitchFamily="18" charset="0"/>
              </a:rPr>
              <a:t>Chekuru</a:t>
            </a:r>
            <a:endParaRPr lang="en-IN" sz="1800" dirty="0">
              <a:solidFill>
                <a:schemeClr val="tx1"/>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5800" y="260985"/>
            <a:ext cx="10038080" cy="108331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4000" b="1">
                <a:solidFill>
                  <a:srgbClr val="FF0000"/>
                </a:solidFill>
                <a:latin typeface="Times New Roman Bold" panose="02020503050405090304" charset="0"/>
                <a:cs typeface="Times New Roman Bold" panose="02020503050405090304" charset="0"/>
              </a:rPr>
              <a:t>Agenda</a:t>
            </a:r>
            <a:r>
              <a:rPr lang="en-US" altLang="en-IN" b="1">
                <a:solidFill>
                  <a:srgbClr val="FF0000"/>
                </a:solidFill>
              </a:rPr>
              <a:t> </a:t>
            </a:r>
            <a:r>
              <a:rPr lang="en-IN" b="1">
                <a:solidFill>
                  <a:srgbClr val="FF0000"/>
                </a:solidFill>
              </a:rPr>
              <a:t>  </a:t>
            </a:r>
            <a:endParaRPr b="1">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latin typeface="Times New Roman" panose="02020503050405090304" pitchFamily="18" charset="0"/>
                <a:cs typeface="Times New Roman" panose="02020503050405090304" pitchFamily="18" charset="0"/>
              </a:rPr>
              <a:t>Objective of the Project</a:t>
            </a:r>
            <a:endParaRPr sz="2400" dirty="0">
              <a:latin typeface="Times New Roman" panose="02020503050405090304" pitchFamily="18" charset="0"/>
              <a:cs typeface="Times New Roman" panose="0202050305040509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503050405090304" pitchFamily="18" charset="0"/>
                <a:cs typeface="Times New Roman" panose="02020503050405090304" pitchFamily="18" charset="0"/>
              </a:rPr>
              <a:t>ER Diagram and schema explanation</a:t>
            </a:r>
            <a:endParaRPr sz="2400" dirty="0">
              <a:latin typeface="Times New Roman" panose="02020503050405090304" pitchFamily="18" charset="0"/>
              <a:cs typeface="Times New Roman" panose="0202050305040509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503050405090304" pitchFamily="18" charset="0"/>
                <a:cs typeface="Times New Roman" panose="02020503050405090304" pitchFamily="18" charset="0"/>
              </a:rPr>
              <a:t>Key analysis questions (use cases)</a:t>
            </a:r>
            <a:endParaRPr sz="2400" dirty="0">
              <a:latin typeface="Times New Roman" panose="02020503050405090304" pitchFamily="18" charset="0"/>
              <a:cs typeface="Times New Roman" panose="0202050305040509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503050405090304" pitchFamily="18" charset="0"/>
                <a:cs typeface="Times New Roman" panose="02020503050405090304" pitchFamily="18" charset="0"/>
              </a:rPr>
              <a:t>SQL query results with screenshots or summaries</a:t>
            </a:r>
            <a:endParaRPr sz="2400" dirty="0">
              <a:latin typeface="Times New Roman" panose="02020503050405090304" pitchFamily="18" charset="0"/>
              <a:cs typeface="Times New Roman" panose="0202050305040509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503050405090304" pitchFamily="18" charset="0"/>
                <a:cs typeface="Times New Roman" panose="02020503050405090304" pitchFamily="18" charset="0"/>
              </a:rPr>
              <a:t>Final business insights and recommendations</a:t>
            </a:r>
            <a:endParaRPr sz="2400" dirty="0">
              <a:latin typeface="Times New Roman" panose="02020503050405090304" pitchFamily="18" charset="0"/>
              <a:cs typeface="Times New Roman" panose="0202050305040509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503050405090304" pitchFamily="18" charset="0"/>
                <a:cs typeface="Times New Roman" panose="02020503050405090304" pitchFamily="18" charset="0"/>
              </a:rPr>
              <a:t>Conclusion (Key finding overall) </a:t>
            </a:r>
            <a:endParaRPr sz="2400" dirty="0">
              <a:latin typeface="Times New Roman" panose="02020503050405090304" pitchFamily="18" charset="0"/>
              <a:cs typeface="Times New Roman" panose="0202050305040509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503050405090304" pitchFamily="18" charset="0"/>
                <a:cs typeface="Times New Roman" panose="02020503050405090304" pitchFamily="18" charset="0"/>
              </a:rPr>
              <a:t>Q&amp;A Slide </a:t>
            </a:r>
            <a:endParaRPr sz="2400" dirty="0">
              <a:latin typeface="Times New Roman" panose="02020503050405090304" pitchFamily="18" charset="0"/>
              <a:cs typeface="Times New Roman" panose="0202050305040509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503050405090304" pitchFamily="18" charset="0"/>
                <a:cs typeface="Times New Roman" panose="02020503050405090304" pitchFamily="18" charset="0"/>
              </a:rPr>
              <a:t>Your Experience/Challenges working on SQL – Data Analysis Project.</a:t>
            </a:r>
            <a:endParaRPr sz="2400" dirty="0">
              <a:latin typeface="Times New Roman" panose="02020503050405090304" pitchFamily="18" charset="0"/>
              <a:cs typeface="Times New Roman" panose="02020503050405090304" pitchFamily="18" charset="0"/>
            </a:endParaRPr>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5417"/>
          </a:xfrm>
        </p:spPr>
        <p:txBody>
          <a:bodyPr>
            <a:normAutofit/>
          </a:bodyPr>
          <a:lstStyle/>
          <a:p>
            <a:r>
              <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Business Problem Statement</a:t>
            </a:r>
            <a:endPar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endParaRPr>
          </a:p>
        </p:txBody>
      </p:sp>
      <p:sp>
        <p:nvSpPr>
          <p:cNvPr id="3" name="Text Placeholder 2"/>
          <p:cNvSpPr>
            <a:spLocks noGrp="1"/>
          </p:cNvSpPr>
          <p:nvPr>
            <p:ph type="body" idx="1"/>
          </p:nvPr>
        </p:nvSpPr>
        <p:spPr>
          <a:xfrm>
            <a:off x="838200" y="1248697"/>
            <a:ext cx="10515600" cy="4928266"/>
          </a:xfrm>
        </p:spPr>
        <p:txBody>
          <a:bodyPr>
            <a:normAutofit/>
          </a:bodyPr>
          <a:lstStyle/>
          <a:p>
            <a:pPr>
              <a:buFont typeface="Wingdings" panose="05000000000000000000" pitchFamily="2" charset="2"/>
              <a:buChar char="Ø"/>
            </a:pPr>
            <a:r>
              <a:rPr lang="en-US" sz="2400" dirty="0">
                <a:latin typeface="Times New Roman" panose="02020503050405090304" pitchFamily="18" charset="0"/>
                <a:cs typeface="Times New Roman" panose="02020503050405090304" pitchFamily="18" charset="0"/>
              </a:rPr>
              <a:t>Libraries often struggle to manage book inventory, borrower records, and branch operations efficiently due to manual processes and disconnected systems. This leads to issues such as inaccurate stock tracking, difficulty in monitoring book availability, delayed return management, and limited insights into borrower behavior and branch performance.</a:t>
            </a:r>
            <a:endParaRPr lang="en-US" sz="2400" dirty="0">
              <a:latin typeface="Times New Roman" panose="02020503050405090304" pitchFamily="18" charset="0"/>
              <a:cs typeface="Times New Roman" panose="02020503050405090304" pitchFamily="18" charset="0"/>
            </a:endParaRPr>
          </a:p>
          <a:p>
            <a:pPr marL="114300" indent="0">
              <a:buNone/>
            </a:pPr>
            <a:endParaRPr lang="en-US" sz="24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sz="2400" dirty="0">
                <a:latin typeface="Times New Roman" panose="02020503050405090304" pitchFamily="18" charset="0"/>
                <a:cs typeface="Times New Roman" panose="02020503050405090304" pitchFamily="18" charset="0"/>
              </a:rPr>
              <a:t>There is a need for a centralized Library Management System that can store, manage, and analyze data related to books, borrowers, branches, and loans. The system should provide real-time visibility into inventory, improve circulation management, and support data-driven decision-making to enhance operational efficiency and user satisfaction.</a:t>
            </a:r>
            <a:endParaRPr lang="en-US" sz="2400" dirty="0">
              <a:latin typeface="Times New Roman" panose="02020503050405090304" pitchFamily="18" charset="0"/>
              <a:cs typeface="Times New Roman" panose="02020503050405090304" pitchFamily="18" charset="0"/>
            </a:endParaRPr>
          </a:p>
          <a:p>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5585"/>
          </a:xfrm>
        </p:spPr>
        <p:txBody>
          <a:bodyPr/>
          <a:lstStyle/>
          <a:p>
            <a:r>
              <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Introduction</a:t>
            </a:r>
            <a:endPar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endParaRPr>
          </a:p>
        </p:txBody>
      </p:sp>
      <p:sp>
        <p:nvSpPr>
          <p:cNvPr id="3" name="Text Placeholder 2"/>
          <p:cNvSpPr>
            <a:spLocks noGrp="1"/>
          </p:cNvSpPr>
          <p:nvPr>
            <p:ph type="body" idx="1"/>
          </p:nvPr>
        </p:nvSpPr>
        <p:spPr>
          <a:xfrm>
            <a:off x="838200" y="1130709"/>
            <a:ext cx="11009671" cy="4994787"/>
          </a:xfrm>
        </p:spPr>
        <p:txBody>
          <a:bodyPr>
            <a:normAutofit/>
          </a:bodyPr>
          <a:lstStyle/>
          <a:p>
            <a:pPr marL="114300" indent="0">
              <a:buNone/>
            </a:pPr>
            <a:r>
              <a:rPr lang="en-US" sz="2400" dirty="0">
                <a:latin typeface="Times New Roman" panose="02020503050405090304" pitchFamily="18" charset="0"/>
                <a:cs typeface="Times New Roman" panose="02020503050405090304" pitchFamily="18" charset="0"/>
              </a:rPr>
              <a:t>In today’s data-driven environment, efficient data management is essential for operational success. This project focuses on designing and analyzing a relational database system for a Library Management System using MySQL.</a:t>
            </a:r>
            <a:endParaRPr lang="en-US" sz="2400" dirty="0">
              <a:latin typeface="Times New Roman" panose="02020503050405090304" pitchFamily="18" charset="0"/>
              <a:cs typeface="Times New Roman" panose="02020503050405090304" pitchFamily="18" charset="0"/>
            </a:endParaRPr>
          </a:p>
          <a:p>
            <a:pPr marL="114300" indent="0">
              <a:buNone/>
            </a:pPr>
            <a:r>
              <a:rPr lang="en-US" sz="2400" dirty="0">
                <a:latin typeface="Times New Roman" panose="02020503050405090304" pitchFamily="18" charset="0"/>
                <a:cs typeface="Times New Roman" panose="02020503050405090304" pitchFamily="18" charset="0"/>
              </a:rPr>
              <a:t>The goal of this project is to:</a:t>
            </a:r>
            <a:endParaRPr lang="en-US" sz="2400" dirty="0">
              <a:latin typeface="Times New Roman" panose="02020503050405090304" pitchFamily="18" charset="0"/>
              <a:cs typeface="Times New Roman" panose="02020503050405090304" pitchFamily="18" charset="0"/>
            </a:endParaRPr>
          </a:p>
          <a:p>
            <a:r>
              <a:rPr lang="en-US" sz="2400" dirty="0">
                <a:latin typeface="Times New Roman" panose="02020503050405090304" pitchFamily="18" charset="0"/>
                <a:cs typeface="Times New Roman" panose="02020503050405090304" pitchFamily="18" charset="0"/>
              </a:rPr>
              <a:t>Design a structured and normalized database schema</a:t>
            </a:r>
            <a:endParaRPr lang="en-US" sz="2400" dirty="0">
              <a:latin typeface="Times New Roman" panose="02020503050405090304" pitchFamily="18" charset="0"/>
              <a:cs typeface="Times New Roman" panose="02020503050405090304" pitchFamily="18" charset="0"/>
            </a:endParaRPr>
          </a:p>
          <a:p>
            <a:r>
              <a:rPr lang="en-US" sz="2400" dirty="0">
                <a:latin typeface="Times New Roman" panose="02020503050405090304" pitchFamily="18" charset="0"/>
                <a:cs typeface="Times New Roman" panose="02020503050405090304" pitchFamily="18" charset="0"/>
              </a:rPr>
              <a:t>Establish relationships using primary and foreign keys</a:t>
            </a:r>
            <a:endParaRPr lang="en-US" sz="2400" dirty="0">
              <a:latin typeface="Times New Roman" panose="02020503050405090304" pitchFamily="18" charset="0"/>
              <a:cs typeface="Times New Roman" panose="02020503050405090304" pitchFamily="18" charset="0"/>
            </a:endParaRPr>
          </a:p>
          <a:p>
            <a:r>
              <a:rPr lang="en-US" sz="2400" dirty="0">
                <a:latin typeface="Times New Roman" panose="02020503050405090304" pitchFamily="18" charset="0"/>
                <a:cs typeface="Times New Roman" panose="02020503050405090304" pitchFamily="18" charset="0"/>
              </a:rPr>
              <a:t>Store and manage book, borrower, branch, and loan data</a:t>
            </a:r>
            <a:endParaRPr lang="en-US" sz="2400" dirty="0">
              <a:latin typeface="Times New Roman" panose="02020503050405090304" pitchFamily="18" charset="0"/>
              <a:cs typeface="Times New Roman" panose="02020503050405090304" pitchFamily="18" charset="0"/>
            </a:endParaRPr>
          </a:p>
          <a:p>
            <a:r>
              <a:rPr lang="en-US" sz="2400" dirty="0">
                <a:latin typeface="Times New Roman" panose="02020503050405090304" pitchFamily="18" charset="0"/>
                <a:cs typeface="Times New Roman" panose="02020503050405090304" pitchFamily="18" charset="0"/>
              </a:rPr>
              <a:t>Perform SQL-based analytical queries</a:t>
            </a:r>
            <a:endParaRPr lang="en-US" sz="2400" dirty="0">
              <a:latin typeface="Times New Roman" panose="02020503050405090304" pitchFamily="18" charset="0"/>
              <a:cs typeface="Times New Roman" panose="02020503050405090304" pitchFamily="18" charset="0"/>
            </a:endParaRPr>
          </a:p>
          <a:p>
            <a:r>
              <a:rPr lang="en-US" sz="2400" dirty="0">
                <a:latin typeface="Times New Roman" panose="02020503050405090304" pitchFamily="18" charset="0"/>
                <a:cs typeface="Times New Roman" panose="02020503050405090304" pitchFamily="18" charset="0"/>
              </a:rPr>
              <a:t>Extract meaningful business insights from transactional data</a:t>
            </a:r>
            <a:endParaRPr lang="en-US" sz="2400" dirty="0">
              <a:latin typeface="Times New Roman" panose="02020503050405090304" pitchFamily="18" charset="0"/>
              <a:cs typeface="Times New Roman" panose="02020503050405090304" pitchFamily="18" charset="0"/>
            </a:endParaRPr>
          </a:p>
          <a:p>
            <a:pPr marL="114300" indent="0">
              <a:buNone/>
            </a:pPr>
            <a:r>
              <a:rPr lang="en-US" sz="2400" dirty="0">
                <a:latin typeface="Times New Roman" panose="02020503050405090304" pitchFamily="18" charset="0"/>
                <a:cs typeface="Times New Roman" panose="02020503050405090304" pitchFamily="18" charset="0"/>
              </a:rPr>
              <a:t>Through this system, raw library data is transformed into structured information that supports decision-making, inventory planning, and operational efficiency.</a:t>
            </a:r>
            <a:endParaRPr lang="en-US" sz="2400" dirty="0">
              <a:latin typeface="Times New Roman" panose="02020503050405090304" pitchFamily="18" charset="0"/>
              <a:cs typeface="Times New Roman" panose="02020503050405090304" pitchFamily="18" charset="0"/>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4243"/>
          </a:xfrm>
        </p:spPr>
        <p:txBody>
          <a:bodyPr>
            <a:normAutofit/>
          </a:bodyPr>
          <a:lstStyle/>
          <a:p>
            <a:r>
              <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Objective of the Project</a:t>
            </a:r>
            <a:endPar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endParaRPr>
          </a:p>
        </p:txBody>
      </p:sp>
      <p:sp>
        <p:nvSpPr>
          <p:cNvPr id="4" name="Rectangle 1"/>
          <p:cNvSpPr>
            <a:spLocks noGrp="1" noChangeArrowheads="1"/>
          </p:cNvSpPr>
          <p:nvPr>
            <p:ph type="body" idx="1"/>
          </p:nvPr>
        </p:nvSpPr>
        <p:spPr bwMode="auto">
          <a:xfrm>
            <a:off x="838200" y="1589594"/>
            <a:ext cx="10574594" cy="415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To design and implement a relational database for a Library Management System using MySQL.</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To establish relationships between books, authors, publishers, borrowers, and branches.</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To perform analytical queries on library operations.</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To derive insights from loan, inventory, and borrower data.</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To understand real-world database normalization and foreign key relationships.</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6280"/>
          </a:xfrm>
        </p:spPr>
        <p:txBody>
          <a:bodyPr>
            <a:normAutofit fontScale="90000"/>
          </a:bodyPr>
          <a:lstStyle/>
          <a:p>
            <a:br>
              <a:rPr lang="en-IN" sz="4000"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br>
            <a:r>
              <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ER </a:t>
            </a:r>
            <a:r>
              <a:rPr lang="en-IN" sz="4440" b="1" dirty="0">
                <a:solidFill>
                  <a:srgbClr val="EA0000"/>
                </a:solidFill>
                <a:latin typeface="Times New Roman Bold" panose="02020503050405090304" charset="0"/>
                <a:ea typeface="Lato Black" panose="020F0502020204030203" pitchFamily="34" charset="0"/>
                <a:cs typeface="Times New Roman Bold" panose="02020503050405090304" charset="0"/>
              </a:rPr>
              <a:t>Diagram </a:t>
            </a:r>
            <a:r>
              <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and </a:t>
            </a:r>
            <a:r>
              <a:rPr lang="en-US" alt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S</a:t>
            </a:r>
            <a:r>
              <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chema</a:t>
            </a:r>
            <a:br>
              <a:rPr lang="en-IN" dirty="0"/>
            </a:br>
            <a:endParaRPr lang="en-IN" dirty="0"/>
          </a:p>
        </p:txBody>
      </p:sp>
      <p:sp>
        <p:nvSpPr>
          <p:cNvPr id="3" name="Text Placeholder 2"/>
          <p:cNvSpPr>
            <a:spLocks noGrp="1"/>
          </p:cNvSpPr>
          <p:nvPr>
            <p:ph type="body" idx="1"/>
          </p:nvPr>
        </p:nvSpPr>
        <p:spPr>
          <a:xfrm>
            <a:off x="838200" y="1081548"/>
            <a:ext cx="5257800" cy="5411326"/>
          </a:xfrm>
        </p:spPr>
        <p:txBody>
          <a:bodyPr>
            <a:normAutofit fontScale="70000" lnSpcReduction="20000"/>
          </a:bodyPr>
          <a:lstStyle/>
          <a:p>
            <a:pPr marL="114300" indent="0">
              <a:buNone/>
            </a:pPr>
            <a:r>
              <a:rPr lang="en-US" sz="4400" b="1" dirty="0">
                <a:latin typeface="Times New Roman" panose="02020503050405090304" pitchFamily="18" charset="0"/>
                <a:cs typeface="Times New Roman" panose="02020503050405090304" pitchFamily="18" charset="0"/>
              </a:rPr>
              <a:t>Entities in the System:</a:t>
            </a:r>
            <a:endParaRPr lang="en-US" sz="4400" b="1" dirty="0">
              <a:latin typeface="Times New Roman" panose="02020503050405090304" pitchFamily="18" charset="0"/>
              <a:cs typeface="Times New Roman" panose="02020503050405090304" pitchFamily="18" charset="0"/>
            </a:endParaRPr>
          </a:p>
          <a:p>
            <a:r>
              <a:rPr lang="en-US" sz="2900" b="1" dirty="0" err="1">
                <a:latin typeface="Times New Roman" panose="02020503050405090304" pitchFamily="18" charset="0"/>
                <a:cs typeface="Times New Roman" panose="02020503050405090304" pitchFamily="18" charset="0"/>
              </a:rPr>
              <a:t>tbl_publisher</a:t>
            </a:r>
            <a:endParaRPr lang="en-US" sz="2900" dirty="0">
              <a:latin typeface="Times New Roman" panose="02020503050405090304" pitchFamily="18" charset="0"/>
              <a:cs typeface="Times New Roman" panose="02020503050405090304" pitchFamily="18" charset="0"/>
            </a:endParaRPr>
          </a:p>
          <a:p>
            <a:pPr lvl="1"/>
            <a:r>
              <a:rPr lang="en-US" sz="2900" dirty="0">
                <a:latin typeface="Times New Roman" panose="02020503050405090304" pitchFamily="18" charset="0"/>
                <a:cs typeface="Times New Roman" panose="02020503050405090304" pitchFamily="18" charset="0"/>
              </a:rPr>
              <a:t>Stores publisher information</a:t>
            </a:r>
            <a:endParaRPr lang="en-US" sz="2900" dirty="0">
              <a:latin typeface="Times New Roman" panose="02020503050405090304" pitchFamily="18" charset="0"/>
              <a:cs typeface="Times New Roman" panose="02020503050405090304" pitchFamily="18" charset="0"/>
            </a:endParaRPr>
          </a:p>
          <a:p>
            <a:pPr lvl="1"/>
            <a:r>
              <a:rPr lang="en-US" sz="2900" dirty="0">
                <a:latin typeface="Times New Roman" panose="02020503050405090304" pitchFamily="18" charset="0"/>
                <a:cs typeface="Times New Roman" panose="02020503050405090304" pitchFamily="18" charset="0"/>
              </a:rPr>
              <a:t>Primary Key: </a:t>
            </a:r>
            <a:r>
              <a:rPr lang="en-US" sz="2900" dirty="0" err="1">
                <a:latin typeface="Times New Roman" panose="02020503050405090304" pitchFamily="18" charset="0"/>
                <a:cs typeface="Times New Roman" panose="02020503050405090304" pitchFamily="18" charset="0"/>
              </a:rPr>
              <a:t>publisher_PublisherName</a:t>
            </a:r>
            <a:endParaRPr lang="en-US" sz="2900" dirty="0">
              <a:latin typeface="Times New Roman" panose="02020503050405090304" pitchFamily="18" charset="0"/>
              <a:cs typeface="Times New Roman" panose="02020503050405090304" pitchFamily="18" charset="0"/>
            </a:endParaRPr>
          </a:p>
          <a:p>
            <a:r>
              <a:rPr lang="en-US" sz="2900" b="1" dirty="0" err="1">
                <a:latin typeface="Times New Roman" panose="02020503050405090304" pitchFamily="18" charset="0"/>
                <a:cs typeface="Times New Roman" panose="02020503050405090304" pitchFamily="18" charset="0"/>
              </a:rPr>
              <a:t>tbl_book</a:t>
            </a:r>
            <a:endParaRPr lang="en-US" sz="2900" dirty="0">
              <a:latin typeface="Times New Roman" panose="02020503050405090304" pitchFamily="18" charset="0"/>
              <a:cs typeface="Times New Roman" panose="02020503050405090304" pitchFamily="18" charset="0"/>
            </a:endParaRPr>
          </a:p>
          <a:p>
            <a:pPr lvl="1"/>
            <a:r>
              <a:rPr lang="en-US" sz="2900" dirty="0">
                <a:latin typeface="Times New Roman" panose="02020503050405090304" pitchFamily="18" charset="0"/>
                <a:cs typeface="Times New Roman" panose="02020503050405090304" pitchFamily="18" charset="0"/>
              </a:rPr>
              <a:t>Stores book details</a:t>
            </a:r>
            <a:endParaRPr lang="en-US" sz="2900" dirty="0">
              <a:latin typeface="Times New Roman" panose="02020503050405090304" pitchFamily="18" charset="0"/>
              <a:cs typeface="Times New Roman" panose="02020503050405090304" pitchFamily="18" charset="0"/>
            </a:endParaRPr>
          </a:p>
          <a:p>
            <a:pPr lvl="1"/>
            <a:r>
              <a:rPr lang="en-US" sz="2900" dirty="0">
                <a:latin typeface="Times New Roman" panose="02020503050405090304" pitchFamily="18" charset="0"/>
                <a:cs typeface="Times New Roman" panose="02020503050405090304" pitchFamily="18" charset="0"/>
              </a:rPr>
              <a:t>Foreign Key → Publisher</a:t>
            </a:r>
            <a:endParaRPr lang="en-US" sz="2900" dirty="0">
              <a:latin typeface="Times New Roman" panose="02020503050405090304" pitchFamily="18" charset="0"/>
              <a:cs typeface="Times New Roman" panose="02020503050405090304" pitchFamily="18" charset="0"/>
            </a:endParaRPr>
          </a:p>
          <a:p>
            <a:r>
              <a:rPr lang="en-US" sz="2900" b="1" dirty="0" err="1">
                <a:latin typeface="Times New Roman" panose="02020503050405090304" pitchFamily="18" charset="0"/>
                <a:cs typeface="Times New Roman" panose="02020503050405090304" pitchFamily="18" charset="0"/>
              </a:rPr>
              <a:t>tbl_book_authors</a:t>
            </a:r>
            <a:endParaRPr lang="en-US" sz="2900" dirty="0">
              <a:latin typeface="Times New Roman" panose="02020503050405090304" pitchFamily="18" charset="0"/>
              <a:cs typeface="Times New Roman" panose="02020503050405090304" pitchFamily="18" charset="0"/>
            </a:endParaRPr>
          </a:p>
          <a:p>
            <a:pPr lvl="1"/>
            <a:r>
              <a:rPr lang="en-US" sz="2900" dirty="0">
                <a:latin typeface="Times New Roman" panose="02020503050405090304" pitchFamily="18" charset="0"/>
                <a:cs typeface="Times New Roman" panose="02020503050405090304" pitchFamily="18" charset="0"/>
              </a:rPr>
              <a:t>Maps books to authors</a:t>
            </a:r>
            <a:endParaRPr lang="en-US" sz="2900" dirty="0">
              <a:latin typeface="Times New Roman" panose="02020503050405090304" pitchFamily="18" charset="0"/>
              <a:cs typeface="Times New Roman" panose="02020503050405090304" pitchFamily="18" charset="0"/>
            </a:endParaRPr>
          </a:p>
          <a:p>
            <a:pPr lvl="1"/>
            <a:r>
              <a:rPr lang="en-US" sz="2900" dirty="0">
                <a:latin typeface="Times New Roman" panose="02020503050405090304" pitchFamily="18" charset="0"/>
                <a:cs typeface="Times New Roman" panose="02020503050405090304" pitchFamily="18" charset="0"/>
              </a:rPr>
              <a:t>One book can have multiple authors</a:t>
            </a:r>
            <a:endParaRPr lang="en-US" sz="2900" dirty="0">
              <a:latin typeface="Times New Roman" panose="02020503050405090304" pitchFamily="18" charset="0"/>
              <a:cs typeface="Times New Roman" panose="02020503050405090304" pitchFamily="18" charset="0"/>
            </a:endParaRPr>
          </a:p>
          <a:p>
            <a:r>
              <a:rPr lang="en-US" sz="2900" b="1" dirty="0" err="1">
                <a:latin typeface="Times New Roman" panose="02020503050405090304" pitchFamily="18" charset="0"/>
                <a:cs typeface="Times New Roman" panose="02020503050405090304" pitchFamily="18" charset="0"/>
              </a:rPr>
              <a:t>tbl_library_branch</a:t>
            </a:r>
            <a:endParaRPr lang="en-US" sz="2900" dirty="0">
              <a:latin typeface="Times New Roman" panose="02020503050405090304" pitchFamily="18" charset="0"/>
              <a:cs typeface="Times New Roman" panose="02020503050405090304" pitchFamily="18" charset="0"/>
            </a:endParaRPr>
          </a:p>
          <a:p>
            <a:pPr lvl="1"/>
            <a:r>
              <a:rPr lang="en-US" sz="2900" dirty="0">
                <a:latin typeface="Times New Roman" panose="02020503050405090304" pitchFamily="18" charset="0"/>
                <a:cs typeface="Times New Roman" panose="02020503050405090304" pitchFamily="18" charset="0"/>
              </a:rPr>
              <a:t>Stores branch information</a:t>
            </a:r>
            <a:endParaRPr lang="en-US" sz="2900" dirty="0">
              <a:latin typeface="Times New Roman" panose="02020503050405090304" pitchFamily="18" charset="0"/>
              <a:cs typeface="Times New Roman" panose="02020503050405090304" pitchFamily="18" charset="0"/>
            </a:endParaRPr>
          </a:p>
          <a:p>
            <a:r>
              <a:rPr lang="en-US" sz="2900" b="1" dirty="0" err="1">
                <a:latin typeface="Times New Roman" panose="02020503050405090304" pitchFamily="18" charset="0"/>
                <a:cs typeface="Times New Roman" panose="02020503050405090304" pitchFamily="18" charset="0"/>
              </a:rPr>
              <a:t>tbl_book_copies</a:t>
            </a:r>
            <a:endParaRPr lang="en-US" sz="2900" dirty="0">
              <a:latin typeface="Times New Roman" panose="02020503050405090304" pitchFamily="18" charset="0"/>
              <a:cs typeface="Times New Roman" panose="02020503050405090304" pitchFamily="18" charset="0"/>
            </a:endParaRPr>
          </a:p>
          <a:p>
            <a:pPr lvl="1"/>
            <a:r>
              <a:rPr lang="en-US" sz="2900" dirty="0">
                <a:latin typeface="Times New Roman" panose="02020503050405090304" pitchFamily="18" charset="0"/>
                <a:cs typeface="Times New Roman" panose="02020503050405090304" pitchFamily="18" charset="0"/>
              </a:rPr>
              <a:t>Tracks number of copies of each book per branch</a:t>
            </a:r>
            <a:endParaRPr lang="en-US" sz="2900" dirty="0">
              <a:latin typeface="Times New Roman" panose="02020503050405090304" pitchFamily="18" charset="0"/>
              <a:cs typeface="Times New Roman" panose="02020503050405090304" pitchFamily="18" charset="0"/>
            </a:endParaRPr>
          </a:p>
          <a:p>
            <a:pPr lvl="1"/>
            <a:r>
              <a:rPr lang="en-US" sz="2900" dirty="0">
                <a:latin typeface="Times New Roman" panose="02020503050405090304" pitchFamily="18" charset="0"/>
                <a:cs typeface="Times New Roman" panose="02020503050405090304" pitchFamily="18" charset="0"/>
              </a:rPr>
              <a:t>Connects Book ↔ Branch</a:t>
            </a:r>
            <a:endParaRPr lang="en-US" sz="2900" dirty="0">
              <a:latin typeface="Times New Roman" panose="02020503050405090304" pitchFamily="18" charset="0"/>
              <a:cs typeface="Times New Roman" panose="02020503050405090304" pitchFamily="18" charset="0"/>
            </a:endParaRPr>
          </a:p>
          <a:p>
            <a:endParaRPr lang="en-US" dirty="0"/>
          </a:p>
        </p:txBody>
      </p:sp>
      <p:sp>
        <p:nvSpPr>
          <p:cNvPr id="4" name="TextBox 3"/>
          <p:cNvSpPr txBox="1"/>
          <p:nvPr/>
        </p:nvSpPr>
        <p:spPr>
          <a:xfrm>
            <a:off x="6253314" y="1401942"/>
            <a:ext cx="5100486" cy="4462760"/>
          </a:xfrm>
          <a:prstGeom prst="rect">
            <a:avLst/>
          </a:prstGeom>
          <a:noFill/>
        </p:spPr>
        <p:txBody>
          <a:bodyPr wrap="square" rtlCol="0">
            <a:spAutoFit/>
          </a:bodyPr>
          <a:lstStyle/>
          <a:p>
            <a:endParaRPr lang="en-US" b="1" dirty="0"/>
          </a:p>
          <a:p>
            <a:pPr marL="285750" indent="-285750">
              <a:buFont typeface="Arial" panose="020B0604020202090204" pitchFamily="34" charset="0"/>
              <a:buChar char="•"/>
            </a:pPr>
            <a:r>
              <a:rPr lang="en-US" sz="2000" b="1" dirty="0" err="1">
                <a:latin typeface="Times New Roman" panose="02020503050405090304" pitchFamily="18" charset="0"/>
                <a:ea typeface="Calibri" panose="020F0502020204030204" pitchFamily="34" charset="0"/>
                <a:cs typeface="Times New Roman" panose="02020503050405090304" pitchFamily="18" charset="0"/>
              </a:rPr>
              <a:t>tbl_borrower</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pPr marL="742950" lvl="1" indent="-285750">
              <a:buFont typeface="Arial" panose="020B0604020202090204" pitchFamily="34" charset="0"/>
              <a:buChar char="•"/>
            </a:pPr>
            <a:r>
              <a:rPr lang="en-US" sz="2000" dirty="0">
                <a:latin typeface="Times New Roman" panose="02020503050405090304" pitchFamily="18" charset="0"/>
                <a:ea typeface="Calibri" panose="020F0502020204030204" pitchFamily="34" charset="0"/>
                <a:cs typeface="Times New Roman" panose="02020503050405090304" pitchFamily="18" charset="0"/>
              </a:rPr>
              <a:t>Stores borrower details</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pPr marL="285750" indent="-285750">
              <a:buFont typeface="Arial" panose="020B0604020202090204" pitchFamily="34" charset="0"/>
              <a:buChar char="•"/>
            </a:pPr>
            <a:r>
              <a:rPr lang="en-US" sz="2000" b="1" dirty="0" err="1">
                <a:latin typeface="Times New Roman" panose="02020503050405090304" pitchFamily="18" charset="0"/>
                <a:ea typeface="Calibri" panose="020F0502020204030204" pitchFamily="34" charset="0"/>
                <a:cs typeface="Times New Roman" panose="02020503050405090304" pitchFamily="18" charset="0"/>
              </a:rPr>
              <a:t>tbl_book_loans</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pPr marL="742950" lvl="1" indent="-285750">
              <a:buFont typeface="Arial" panose="020B0604020202090204" pitchFamily="34" charset="0"/>
              <a:buChar char="•"/>
            </a:pPr>
            <a:r>
              <a:rPr lang="en-US" sz="2000" dirty="0">
                <a:latin typeface="Times New Roman" panose="02020503050405090304" pitchFamily="18" charset="0"/>
                <a:ea typeface="Calibri" panose="020F0502020204030204" pitchFamily="34" charset="0"/>
                <a:cs typeface="Times New Roman" panose="02020503050405090304" pitchFamily="18" charset="0"/>
              </a:rPr>
              <a:t>Tracks issued books</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pPr marL="742950" lvl="1" indent="-285750">
              <a:buFont typeface="Arial" panose="020B0604020202090204" pitchFamily="34" charset="0"/>
              <a:buChar char="•"/>
            </a:pPr>
            <a:r>
              <a:rPr lang="en-US" sz="2000" dirty="0">
                <a:latin typeface="Times New Roman" panose="02020503050405090304" pitchFamily="18" charset="0"/>
                <a:ea typeface="Calibri" panose="020F0502020204030204" pitchFamily="34" charset="0"/>
                <a:cs typeface="Times New Roman" panose="02020503050405090304" pitchFamily="18" charset="0"/>
              </a:rPr>
              <a:t>Connects Book ↔ Branch ↔ Borrower</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endParaRPr lang="en-US" b="1" dirty="0">
              <a:latin typeface="Times New Roman" panose="02020503050405090304" pitchFamily="18" charset="0"/>
              <a:cs typeface="Times New Roman" panose="02020503050405090304" pitchFamily="18" charset="0"/>
            </a:endParaRPr>
          </a:p>
          <a:p>
            <a:endParaRPr lang="en-US" b="1" dirty="0">
              <a:latin typeface="Times New Roman" panose="02020503050405090304" pitchFamily="18" charset="0"/>
              <a:cs typeface="Times New Roman" panose="02020503050405090304" pitchFamily="18" charset="0"/>
            </a:endParaRPr>
          </a:p>
          <a:p>
            <a:r>
              <a:rPr lang="en-US" sz="2800" b="1" dirty="0">
                <a:latin typeface="Times New Roman" panose="02020503050405090304" pitchFamily="18" charset="0"/>
                <a:ea typeface="Calibri" panose="020F0502020204030204" pitchFamily="34" charset="0"/>
                <a:cs typeface="Times New Roman" panose="02020503050405090304" pitchFamily="18" charset="0"/>
              </a:rPr>
              <a:t>Relationships:</a:t>
            </a:r>
            <a:endParaRPr lang="en-US" sz="2800" b="1" dirty="0">
              <a:latin typeface="Times New Roman" panose="02020503050405090304" pitchFamily="18" charset="0"/>
              <a:ea typeface="Calibri" panose="020F0502020204030204" pitchFamily="34" charset="0"/>
              <a:cs typeface="Times New Roman" panose="02020503050405090304" pitchFamily="18" charset="0"/>
            </a:endParaRPr>
          </a:p>
          <a:p>
            <a:pPr marL="342900" indent="-342900">
              <a:buFont typeface="Arial" panose="020B0604020202090204" pitchFamily="34" charset="0"/>
              <a:buChar char="•"/>
            </a:pPr>
            <a:r>
              <a:rPr lang="en-US" sz="2000" dirty="0">
                <a:latin typeface="Times New Roman" panose="02020503050405090304" pitchFamily="18" charset="0"/>
                <a:ea typeface="Calibri" panose="020F0502020204030204" pitchFamily="34" charset="0"/>
                <a:cs typeface="Times New Roman" panose="02020503050405090304" pitchFamily="18" charset="0"/>
              </a:rPr>
              <a:t>One Publisher → Many Books</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pPr marL="342900" indent="-342900">
              <a:buFont typeface="Arial" panose="020B0604020202090204" pitchFamily="34" charset="0"/>
              <a:buChar char="•"/>
            </a:pPr>
            <a:r>
              <a:rPr lang="en-US" sz="2000" dirty="0">
                <a:latin typeface="Times New Roman" panose="02020503050405090304" pitchFamily="18" charset="0"/>
                <a:ea typeface="Calibri" panose="020F0502020204030204" pitchFamily="34" charset="0"/>
                <a:cs typeface="Times New Roman" panose="02020503050405090304" pitchFamily="18" charset="0"/>
              </a:rPr>
              <a:t>One Book → Many Authors</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pPr marL="342900" indent="-342900">
              <a:buFont typeface="Arial" panose="020B0604020202090204" pitchFamily="34" charset="0"/>
              <a:buChar char="•"/>
            </a:pPr>
            <a:r>
              <a:rPr lang="en-US" sz="2000" dirty="0">
                <a:latin typeface="Times New Roman" panose="02020503050405090304" pitchFamily="18" charset="0"/>
                <a:ea typeface="Calibri" panose="020F0502020204030204" pitchFamily="34" charset="0"/>
                <a:cs typeface="Times New Roman" panose="02020503050405090304" pitchFamily="18" charset="0"/>
              </a:rPr>
              <a:t>One Book → Many Copies</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pPr marL="342900" indent="-342900">
              <a:buFont typeface="Arial" panose="020B0604020202090204" pitchFamily="34" charset="0"/>
              <a:buChar char="•"/>
            </a:pPr>
            <a:r>
              <a:rPr lang="en-US" sz="2000" dirty="0">
                <a:latin typeface="Times New Roman" panose="02020503050405090304" pitchFamily="18" charset="0"/>
                <a:ea typeface="Calibri" panose="020F0502020204030204" pitchFamily="34" charset="0"/>
                <a:cs typeface="Times New Roman" panose="02020503050405090304" pitchFamily="18" charset="0"/>
              </a:rPr>
              <a:t>One Branch → Many Loans</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pPr marL="342900" indent="-342900">
              <a:buFont typeface="Arial" panose="020B0604020202090204" pitchFamily="34" charset="0"/>
              <a:buChar char="•"/>
            </a:pPr>
            <a:r>
              <a:rPr lang="en-US" sz="2000" dirty="0">
                <a:latin typeface="Times New Roman" panose="02020503050405090304" pitchFamily="18" charset="0"/>
                <a:ea typeface="Calibri" panose="020F0502020204030204" pitchFamily="34" charset="0"/>
                <a:cs typeface="Times New Roman" panose="02020503050405090304" pitchFamily="18" charset="0"/>
              </a:rPr>
              <a:t>One Borrower → Many Loans</a:t>
            </a:r>
            <a:endParaRPr lang="en-US" sz="2000" dirty="0">
              <a:latin typeface="Times New Roman" panose="02020503050405090304" pitchFamily="18" charset="0"/>
              <a:ea typeface="Calibri" panose="020F0502020204030204" pitchFamily="34" charset="0"/>
              <a:cs typeface="Times New Roman" panose="02020503050405090304" pitchFamily="18" charset="0"/>
            </a:endParaRPr>
          </a:p>
          <a:p>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905"/>
            <a:ext cx="6055995" cy="694055"/>
          </a:xfrm>
        </p:spPr>
        <p:txBody>
          <a:bodyPr>
            <a:normAutofit/>
          </a:bodyPr>
          <a:lstStyle/>
          <a:p>
            <a:r>
              <a:rPr lang="en-IN" sz="3600" b="1" dirty="0">
                <a:solidFill>
                  <a:srgbClr val="EA0000"/>
                </a:solidFill>
                <a:latin typeface="Times New Roman Bold" panose="02020503050405090304" charset="0"/>
                <a:ea typeface="Lato Black" panose="020F0502020204030203" pitchFamily="34" charset="0"/>
                <a:cs typeface="Times New Roman Bold" panose="02020503050405090304" charset="0"/>
              </a:rPr>
              <a:t>ER Diagram and </a:t>
            </a:r>
            <a:r>
              <a:rPr lang="en-US" altLang="en-IN" sz="3600" b="1" dirty="0">
                <a:solidFill>
                  <a:srgbClr val="EA0000"/>
                </a:solidFill>
                <a:latin typeface="Times New Roman Bold" panose="02020503050405090304" charset="0"/>
                <a:ea typeface="Lato Black" panose="020F0502020204030203" pitchFamily="34" charset="0"/>
                <a:cs typeface="Times New Roman Bold" panose="02020503050405090304" charset="0"/>
              </a:rPr>
              <a:t>S</a:t>
            </a:r>
            <a:r>
              <a:rPr lang="en-IN" sz="3600" b="1" dirty="0">
                <a:solidFill>
                  <a:srgbClr val="EA0000"/>
                </a:solidFill>
                <a:latin typeface="Times New Roman Bold" panose="02020503050405090304" charset="0"/>
                <a:ea typeface="Lato Black" panose="020F0502020204030203" pitchFamily="34" charset="0"/>
                <a:cs typeface="Times New Roman Bold" panose="02020503050405090304" charset="0"/>
              </a:rPr>
              <a:t>chema</a:t>
            </a:r>
            <a:endParaRPr lang="en-IN" sz="3600" b="1" dirty="0">
              <a:latin typeface="Times New Roman Bold" panose="02020503050405090304" charset="0"/>
              <a:cs typeface="Times New Roman Bold" panose="02020503050405090304" charset="0"/>
            </a:endParaRPr>
          </a:p>
        </p:txBody>
      </p:sp>
      <p:pic>
        <p:nvPicPr>
          <p:cNvPr id="7" name="Picture 6"/>
          <p:cNvPicPr>
            <a:picLocks noChangeAspect="1"/>
          </p:cNvPicPr>
          <p:nvPr/>
        </p:nvPicPr>
        <p:blipFill>
          <a:blip r:embed="rId1"/>
          <a:stretch>
            <a:fillRect/>
          </a:stretch>
        </p:blipFill>
        <p:spPr>
          <a:xfrm>
            <a:off x="838200" y="1047824"/>
            <a:ext cx="8376920" cy="55548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1799"/>
            <a:ext cx="8061960" cy="655321"/>
          </a:xfrm>
        </p:spPr>
        <p:txBody>
          <a:bodyPr>
            <a:normAutofit fontScale="90000"/>
          </a:bodyPr>
          <a:lstStyle/>
          <a:p>
            <a:br>
              <a:rPr lang="en-US"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br>
            <a:r>
              <a:rPr lang="en-US" b="1" dirty="0">
                <a:solidFill>
                  <a:srgbClr val="EA0000"/>
                </a:solidFill>
                <a:latin typeface="Times New Roman Bold" panose="02020503050405090304" charset="0"/>
                <a:ea typeface="Lato Black" panose="020F0502020204030203" pitchFamily="34" charset="0"/>
                <a:cs typeface="Times New Roman Bold" panose="02020503050405090304" charset="0"/>
              </a:rPr>
              <a:t>Key Analysis Questions (use cases)</a:t>
            </a:r>
            <a:br>
              <a:rPr lang="en-US" dirty="0"/>
            </a:br>
            <a:endParaRPr lang="en-IN" dirty="0"/>
          </a:p>
        </p:txBody>
      </p:sp>
      <p:sp>
        <p:nvSpPr>
          <p:cNvPr id="5" name="Text Placeholder 2"/>
          <p:cNvSpPr>
            <a:spLocks noGrp="1"/>
          </p:cNvSpPr>
          <p:nvPr>
            <p:ph type="body" idx="1"/>
          </p:nvPr>
        </p:nvSpPr>
        <p:spPr>
          <a:xfrm>
            <a:off x="838200" y="1253490"/>
            <a:ext cx="10723880" cy="4842510"/>
          </a:xfrm>
        </p:spPr>
        <p:txBody>
          <a:bodyPr/>
          <a:lstStyle/>
          <a:p>
            <a:pPr eaLnBrk="0" fontAlgn="base" hangingPunct="0">
              <a:buFont typeface="Wingdings" panose="05000000000000000000" pitchFamily="2" charset="2"/>
              <a:buChar char="Ø"/>
            </a:pPr>
            <a:endParaRPr lang="en-US" sz="2400" dirty="0">
              <a:latin typeface="Times New Roman" panose="02020503050405090304" pitchFamily="18" charset="0"/>
              <a:cs typeface="Times New Roman" panose="02020503050405090304" pitchFamily="18" charset="0"/>
            </a:endParaRPr>
          </a:p>
          <a:p>
            <a:pPr eaLnBrk="0" fontAlgn="base" hangingPunct="0">
              <a:buFont typeface="Wingdings" panose="05000000000000000000" pitchFamily="2" charset="2"/>
              <a:buChar char="Ø"/>
            </a:pPr>
            <a:r>
              <a:rPr lang="en-US" sz="2400" dirty="0">
                <a:latin typeface="Times New Roman" panose="02020503050405090304" pitchFamily="18" charset="0"/>
                <a:cs typeface="Times New Roman" panose="02020503050405090304" pitchFamily="18" charset="0"/>
              </a:rPr>
              <a:t>How many copies of a specific book are available in a specific branch?</a:t>
            </a:r>
            <a:endParaRPr lang="en-IN" sz="2400" dirty="0">
              <a:latin typeface="Times New Roman" panose="02020503050405090304" pitchFamily="18" charset="0"/>
              <a:cs typeface="Times New Roman" panose="02020503050405090304" pitchFamily="18" charset="0"/>
            </a:endParaRPr>
          </a:p>
          <a:p>
            <a:pPr eaLnBrk="0" fontAlgn="base" hangingPunct="0">
              <a:buFont typeface="Wingdings" panose="05000000000000000000" pitchFamily="2" charset="2"/>
              <a:buChar char="Ø"/>
            </a:pPr>
            <a:r>
              <a:rPr lang="en-US" sz="2400" dirty="0">
                <a:latin typeface="Times New Roman" panose="02020503050405090304" pitchFamily="18" charset="0"/>
                <a:cs typeface="Times New Roman" panose="02020503050405090304" pitchFamily="18" charset="0"/>
              </a:rPr>
              <a:t>How many copies are available across all branches?</a:t>
            </a:r>
            <a:endParaRPr lang="en-IN" sz="2400" dirty="0">
              <a:latin typeface="Times New Roman" panose="02020503050405090304" pitchFamily="18" charset="0"/>
              <a:cs typeface="Times New Roman" panose="02020503050405090304" pitchFamily="18" charset="0"/>
            </a:endParaRPr>
          </a:p>
          <a:p>
            <a:pPr eaLnBrk="0" fontAlgn="base" hangingPunct="0">
              <a:buFont typeface="Wingdings" panose="05000000000000000000" pitchFamily="2" charset="2"/>
              <a:buChar char="Ø"/>
            </a:pPr>
            <a:r>
              <a:rPr lang="en-US" sz="2400" dirty="0">
                <a:latin typeface="Times New Roman" panose="02020503050405090304" pitchFamily="18" charset="0"/>
                <a:cs typeface="Times New Roman" panose="02020503050405090304" pitchFamily="18" charset="0"/>
              </a:rPr>
              <a:t>Which borrowers currently have no books issued?</a:t>
            </a:r>
            <a:endParaRPr lang="en-IN" sz="2400" dirty="0">
              <a:latin typeface="Times New Roman" panose="02020503050405090304" pitchFamily="18" charset="0"/>
              <a:cs typeface="Times New Roman" panose="02020503050405090304" pitchFamily="18" charset="0"/>
            </a:endParaRPr>
          </a:p>
          <a:p>
            <a:pPr eaLnBrk="0" fontAlgn="base" hangingPunct="0">
              <a:buFont typeface="Wingdings" panose="05000000000000000000" pitchFamily="2" charset="2"/>
              <a:buChar char="Ø"/>
            </a:pPr>
            <a:r>
              <a:rPr lang="en-US" sz="2400" dirty="0">
                <a:latin typeface="Times New Roman" panose="02020503050405090304" pitchFamily="18" charset="0"/>
                <a:cs typeface="Times New Roman" panose="02020503050405090304" pitchFamily="18" charset="0"/>
              </a:rPr>
              <a:t>Which books are due on a specific date at a specific branch?</a:t>
            </a:r>
            <a:endParaRPr lang="en-IN" sz="2400" dirty="0">
              <a:latin typeface="Times New Roman" panose="02020503050405090304" pitchFamily="18" charset="0"/>
              <a:cs typeface="Times New Roman" panose="02020503050405090304" pitchFamily="18" charset="0"/>
            </a:endParaRPr>
          </a:p>
          <a:p>
            <a:pPr eaLnBrk="0" fontAlgn="base" hangingPunct="0">
              <a:buFont typeface="Wingdings" panose="05000000000000000000" pitchFamily="2" charset="2"/>
              <a:buChar char="Ø"/>
            </a:pPr>
            <a:r>
              <a:rPr lang="en-US" sz="2400" dirty="0">
                <a:latin typeface="Times New Roman" panose="02020503050405090304" pitchFamily="18" charset="0"/>
                <a:cs typeface="Times New Roman" panose="02020503050405090304" pitchFamily="18" charset="0"/>
              </a:rPr>
              <a:t>How many books are loaned from each branch?</a:t>
            </a:r>
            <a:endParaRPr lang="en-IN" sz="2400" dirty="0">
              <a:latin typeface="Times New Roman" panose="02020503050405090304" pitchFamily="18" charset="0"/>
              <a:cs typeface="Times New Roman" panose="02020503050405090304" pitchFamily="18" charset="0"/>
            </a:endParaRPr>
          </a:p>
          <a:p>
            <a:pPr eaLnBrk="0" fontAlgn="base" hangingPunct="0">
              <a:buFont typeface="Wingdings" panose="05000000000000000000" pitchFamily="2" charset="2"/>
              <a:buChar char="Ø"/>
            </a:pPr>
            <a:r>
              <a:rPr lang="en-US" sz="2400" dirty="0">
                <a:latin typeface="Times New Roman" panose="02020503050405090304" pitchFamily="18" charset="0"/>
                <a:cs typeface="Times New Roman" panose="02020503050405090304" pitchFamily="18" charset="0"/>
              </a:rPr>
              <a:t>Which borrowers have more than 5 books issued?</a:t>
            </a:r>
            <a:endParaRPr lang="en-IN" sz="2400" dirty="0">
              <a:latin typeface="Times New Roman" panose="02020503050405090304" pitchFamily="18" charset="0"/>
              <a:cs typeface="Times New Roman" panose="02020503050405090304" pitchFamily="18" charset="0"/>
            </a:endParaRPr>
          </a:p>
          <a:p>
            <a:pPr eaLnBrk="0" fontAlgn="base" hangingPunct="0">
              <a:buFont typeface="Wingdings" panose="05000000000000000000" pitchFamily="2" charset="2"/>
              <a:buChar char="Ø"/>
            </a:pPr>
            <a:r>
              <a:rPr lang="en-US" sz="2400" dirty="0">
                <a:latin typeface="Times New Roman" panose="02020503050405090304" pitchFamily="18" charset="0"/>
                <a:cs typeface="Times New Roman" panose="02020503050405090304" pitchFamily="18" charset="0"/>
              </a:rPr>
              <a:t>How many copies of Stephen King books are available in the Central branch?</a:t>
            </a:r>
            <a:endParaRPr lang="en-IN" sz="2400" dirty="0">
              <a:latin typeface="Times New Roman" panose="02020503050405090304" pitchFamily="18" charset="0"/>
              <a:cs typeface="Times New Roman" panose="02020503050405090304" pitchFamily="18" charset="0"/>
            </a:endParaRPr>
          </a:p>
          <a:p>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947"/>
            <a:ext cx="10650436" cy="2049814"/>
          </a:xfrm>
        </p:spPr>
        <p:txBody>
          <a:bodyPr>
            <a:normAutofit/>
          </a:bodyPr>
          <a:lstStyle/>
          <a:p>
            <a:r>
              <a:rPr lang="en-US"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SQL Query Results</a:t>
            </a:r>
            <a:br>
              <a:rPr lang="en-US" sz="2400" b="1" dirty="0">
                <a:latin typeface="Times New Roman Bold" panose="02020503050405090304" charset="0"/>
                <a:cs typeface="Times New Roman Bold" panose="02020503050405090304" charset="0"/>
              </a:rPr>
            </a:br>
            <a:br>
              <a:rPr lang="en-US" sz="2400" dirty="0"/>
            </a:br>
            <a:r>
              <a:rPr lang="en-US" sz="2400" b="1" dirty="0"/>
              <a:t>1) Retrieved the number of copies of “The Lost Tribe” available in the </a:t>
            </a:r>
            <a:r>
              <a:rPr lang="en-US" sz="2400" b="1" i="1" dirty="0"/>
              <a:t>Sharpstown</a:t>
            </a:r>
            <a:r>
              <a:rPr lang="en-US" sz="2400" b="1" dirty="0"/>
              <a:t> branch.</a:t>
            </a:r>
            <a:endParaRPr lang="en-IN" sz="2400" b="1" dirty="0"/>
          </a:p>
        </p:txBody>
      </p:sp>
      <p:pic>
        <p:nvPicPr>
          <p:cNvPr id="7" name="Picture 6"/>
          <p:cNvPicPr>
            <a:picLocks noChangeAspect="1"/>
          </p:cNvPicPr>
          <p:nvPr/>
        </p:nvPicPr>
        <p:blipFill>
          <a:blip r:embed="rId1"/>
          <a:stretch>
            <a:fillRect/>
          </a:stretch>
        </p:blipFill>
        <p:spPr>
          <a:xfrm>
            <a:off x="838200" y="2632085"/>
            <a:ext cx="10416678" cy="1759439"/>
          </a:xfrm>
          <a:prstGeom prst="rect">
            <a:avLst/>
          </a:prstGeom>
        </p:spPr>
      </p:pic>
      <p:sp>
        <p:nvSpPr>
          <p:cNvPr id="8" name="TextBox 7"/>
          <p:cNvSpPr txBox="1"/>
          <p:nvPr/>
        </p:nvSpPr>
        <p:spPr>
          <a:xfrm>
            <a:off x="838200" y="2087616"/>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p:cNvSpPr txBox="1"/>
          <p:nvPr/>
        </p:nvSpPr>
        <p:spPr>
          <a:xfrm>
            <a:off x="831788" y="4391525"/>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p:cNvPicPr>
            <a:picLocks noChangeAspect="1"/>
          </p:cNvPicPr>
          <p:nvPr/>
        </p:nvPicPr>
        <p:blipFill>
          <a:blip r:embed="rId2"/>
          <a:stretch>
            <a:fillRect/>
          </a:stretch>
        </p:blipFill>
        <p:spPr>
          <a:xfrm>
            <a:off x="838199" y="5023444"/>
            <a:ext cx="4686421" cy="7982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4880" y="603724"/>
            <a:ext cx="10795000" cy="670423"/>
          </a:xfrm>
        </p:spPr>
        <p:txBody>
          <a:bodyPr>
            <a:normAutofit/>
          </a:bodyPr>
          <a:lstStyle/>
          <a:p>
            <a:r>
              <a:rPr lang="en-IN" sz="2400" b="1" dirty="0"/>
              <a:t>2) Calculated “The Lost Tribe” book copies owned by each library branch.</a:t>
            </a:r>
            <a:endParaRPr lang="en-IN" sz="2400" b="1" dirty="0"/>
          </a:p>
        </p:txBody>
      </p:sp>
      <p:sp>
        <p:nvSpPr>
          <p:cNvPr id="4" name="TextBox 3"/>
          <p:cNvSpPr txBox="1"/>
          <p:nvPr/>
        </p:nvSpPr>
        <p:spPr>
          <a:xfrm>
            <a:off x="944880" y="1330960"/>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p:cNvSpPr txBox="1"/>
          <p:nvPr/>
        </p:nvSpPr>
        <p:spPr>
          <a:xfrm>
            <a:off x="1016000" y="4162842"/>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1"/>
          <a:stretch>
            <a:fillRect/>
          </a:stretch>
        </p:blipFill>
        <p:spPr>
          <a:xfrm>
            <a:off x="944880" y="2030730"/>
            <a:ext cx="8956003" cy="1880870"/>
          </a:xfrm>
          <a:prstGeom prst="rect">
            <a:avLst/>
          </a:prstGeom>
        </p:spPr>
      </p:pic>
      <p:pic>
        <p:nvPicPr>
          <p:cNvPr id="9" name="Picture 8"/>
          <p:cNvPicPr>
            <a:picLocks noChangeAspect="1"/>
          </p:cNvPicPr>
          <p:nvPr/>
        </p:nvPicPr>
        <p:blipFill>
          <a:blip r:embed="rId2"/>
          <a:stretch>
            <a:fillRect/>
          </a:stretch>
        </p:blipFill>
        <p:spPr>
          <a:xfrm>
            <a:off x="944880" y="4773930"/>
            <a:ext cx="5151120" cy="14803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41676"/>
            <a:ext cx="10734040" cy="589915"/>
          </a:xfrm>
        </p:spPr>
        <p:txBody>
          <a:bodyPr>
            <a:normAutofit fontScale="90000"/>
          </a:bodyPr>
          <a:lstStyle/>
          <a:p>
            <a:r>
              <a:rPr lang="en-IN" sz="2400" b="1" dirty="0"/>
              <a:t>3)</a:t>
            </a:r>
            <a:r>
              <a:rPr lang="en-US" b="1" dirty="0"/>
              <a:t> </a:t>
            </a:r>
            <a:r>
              <a:rPr lang="en-US" sz="2700" b="1" dirty="0">
                <a:latin typeface="Times New Roman Bold" panose="02020503050405090304" charset="0"/>
                <a:cs typeface="Times New Roman Bold" panose="02020503050405090304" charset="0"/>
              </a:rPr>
              <a:t>Identified borrowers who currently have no books checked out using LEFT JOIN</a:t>
            </a:r>
            <a:r>
              <a:rPr lang="en-US" sz="2700" dirty="0">
                <a:latin typeface="Times New Roman Regular" panose="02020503050405090304" charset="0"/>
                <a:cs typeface="Times New Roman Regular" panose="02020503050405090304" charset="0"/>
              </a:rPr>
              <a:t>.</a:t>
            </a:r>
            <a:endParaRPr lang="en-IN" sz="2700" dirty="0">
              <a:latin typeface="Times New Roman Regular" panose="02020503050405090304" charset="0"/>
              <a:cs typeface="Times New Roman Regular" panose="02020503050405090304" charset="0"/>
            </a:endParaRPr>
          </a:p>
        </p:txBody>
      </p:sp>
      <p:sp>
        <p:nvSpPr>
          <p:cNvPr id="4" name="TextBox 3"/>
          <p:cNvSpPr txBox="1"/>
          <p:nvPr/>
        </p:nvSpPr>
        <p:spPr>
          <a:xfrm>
            <a:off x="838200" y="1259840"/>
            <a:ext cx="1189990" cy="460375"/>
          </a:xfrm>
          <a:prstGeom prst="rect">
            <a:avLst/>
          </a:prstGeom>
          <a:noFill/>
        </p:spPr>
        <p:txBody>
          <a:bodyPr wrap="none" rtlCol="0">
            <a:spAutoFit/>
          </a:bodyPr>
          <a:lstStyle/>
          <a:p>
            <a:r>
              <a:rPr lang="en-IN" sz="2400" b="1" dirty="0">
                <a:latin typeface="Times New Roman Bold" panose="02020503050405090304" charset="0"/>
                <a:ea typeface="Calibri" panose="020F0502020204030204" pitchFamily="34" charset="0"/>
                <a:cs typeface="Times New Roman Bold" panose="02020503050405090304" charset="0"/>
              </a:rPr>
              <a:t>Query:</a:t>
            </a:r>
            <a:r>
              <a:rPr lang="en-IN" sz="2400" dirty="0">
                <a:latin typeface="Times New Roman Regular" panose="02020503050405090304" charset="0"/>
                <a:ea typeface="Calibri" panose="020F0502020204030204" pitchFamily="34" charset="0"/>
                <a:cs typeface="Times New Roman Regular" panose="02020503050405090304" charset="0"/>
              </a:rPr>
              <a:t> </a:t>
            </a:r>
            <a:endParaRPr lang="en-IN" sz="2400" dirty="0">
              <a:latin typeface="Times New Roman Regular" panose="02020503050405090304" charset="0"/>
              <a:ea typeface="Calibri" panose="020F0502020204030204" pitchFamily="34" charset="0"/>
              <a:cs typeface="Times New Roman Regular" panose="02020503050405090304" charset="0"/>
            </a:endParaRPr>
          </a:p>
        </p:txBody>
      </p:sp>
      <p:pic>
        <p:nvPicPr>
          <p:cNvPr id="6" name="Picture 5"/>
          <p:cNvPicPr>
            <a:picLocks noChangeAspect="1"/>
          </p:cNvPicPr>
          <p:nvPr/>
        </p:nvPicPr>
        <p:blipFill>
          <a:blip r:embed="rId1"/>
          <a:stretch>
            <a:fillRect/>
          </a:stretch>
        </p:blipFill>
        <p:spPr>
          <a:xfrm>
            <a:off x="838199" y="1849754"/>
            <a:ext cx="8149269" cy="1675765"/>
          </a:xfrm>
          <a:prstGeom prst="rect">
            <a:avLst/>
          </a:prstGeom>
        </p:spPr>
      </p:pic>
      <p:sp>
        <p:nvSpPr>
          <p:cNvPr id="7" name="TextBox 6"/>
          <p:cNvSpPr txBox="1"/>
          <p:nvPr/>
        </p:nvSpPr>
        <p:spPr>
          <a:xfrm>
            <a:off x="838199" y="3885235"/>
            <a:ext cx="1181735" cy="460375"/>
          </a:xfrm>
          <a:prstGeom prst="rect">
            <a:avLst/>
          </a:prstGeom>
          <a:noFill/>
        </p:spPr>
        <p:txBody>
          <a:bodyPr wrap="none" rtlCol="0">
            <a:spAutoFit/>
          </a:bodyPr>
          <a:lstStyle/>
          <a:p>
            <a:r>
              <a:rPr lang="en-IN" sz="2400" b="1" dirty="0">
                <a:latin typeface="Times New Roman Regular" panose="02020503050405090304" charset="0"/>
                <a:ea typeface="Calibri" panose="020F0502020204030204" pitchFamily="34" charset="0"/>
                <a:cs typeface="Times New Roman Regular" panose="02020503050405090304" charset="0"/>
              </a:rPr>
              <a:t>Result</a:t>
            </a:r>
            <a:r>
              <a:rPr lang="en-IN" sz="2400" b="1" dirty="0">
                <a:latin typeface="Calibri" panose="020F0502020204030204" pitchFamily="34" charset="0"/>
                <a:ea typeface="Calibri" panose="020F0502020204030204" pitchFamily="34" charset="0"/>
                <a:cs typeface="Calibri" panose="020F0502020204030204" pitchFamily="34" charset="0"/>
              </a:rPr>
              <a:t>: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p:cNvPicPr>
            <a:picLocks noChangeAspect="1"/>
          </p:cNvPicPr>
          <p:nvPr/>
        </p:nvPicPr>
        <p:blipFill>
          <a:blip r:embed="rId2"/>
          <a:stretch>
            <a:fillRect/>
          </a:stretch>
        </p:blipFill>
        <p:spPr>
          <a:xfrm>
            <a:off x="838199" y="4512922"/>
            <a:ext cx="4434841" cy="8306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9765"/>
            <a:ext cx="10515600" cy="681355"/>
          </a:xfrm>
        </p:spPr>
        <p:txBody>
          <a:bodyPr>
            <a:normAutofit/>
          </a:bodyPr>
          <a:lstStyle/>
          <a:p>
            <a:r>
              <a:rPr lang="en-IN" sz="2400" b="1" dirty="0">
                <a:latin typeface="Times New Roman Bold" panose="02020503050405090304" charset="0"/>
                <a:cs typeface="Times New Roman Bold" panose="02020503050405090304" charset="0"/>
              </a:rPr>
              <a:t>4) </a:t>
            </a:r>
            <a:r>
              <a:rPr lang="en-US" sz="2400" b="1" dirty="0">
                <a:latin typeface="Times New Roman Bold" panose="02020503050405090304" charset="0"/>
                <a:cs typeface="Times New Roman Bold" panose="02020503050405090304" charset="0"/>
              </a:rPr>
              <a:t>Retrieved books due on a specific date from a specific branch.</a:t>
            </a:r>
            <a:endParaRPr lang="en-IN" sz="2400" b="1" dirty="0">
              <a:latin typeface="Times New Roman Bold" panose="02020503050405090304" charset="0"/>
              <a:cs typeface="Times New Roman Bold" panose="02020503050405090304" charset="0"/>
            </a:endParaRPr>
          </a:p>
        </p:txBody>
      </p:sp>
      <p:sp>
        <p:nvSpPr>
          <p:cNvPr id="4" name="TextBox 3"/>
          <p:cNvSpPr txBox="1"/>
          <p:nvPr/>
        </p:nvSpPr>
        <p:spPr>
          <a:xfrm>
            <a:off x="838200" y="1341120"/>
            <a:ext cx="1198245" cy="460375"/>
          </a:xfrm>
          <a:prstGeom prst="rect">
            <a:avLst/>
          </a:prstGeom>
          <a:noFill/>
        </p:spPr>
        <p:txBody>
          <a:bodyPr wrap="none" rtlCol="0">
            <a:spAutoFit/>
          </a:bodyPr>
          <a:lstStyle/>
          <a:p>
            <a:r>
              <a:rPr lang="en-IN" sz="2400" b="1" dirty="0">
                <a:latin typeface="Times New Roman Bold" panose="02020503050405090304" charset="0"/>
                <a:ea typeface="Calibri" panose="020F0502020204030204" pitchFamily="34" charset="0"/>
                <a:cs typeface="Times New Roman Bold" panose="02020503050405090304" charset="0"/>
              </a:rPr>
              <a:t>Query:</a:t>
            </a:r>
            <a:r>
              <a:rPr lang="en-IN" sz="2400" b="1" dirty="0">
                <a:latin typeface="Calibri" panose="020F0502020204030204" pitchFamily="34" charset="0"/>
                <a:ea typeface="Calibri" panose="020F0502020204030204" pitchFamily="34" charset="0"/>
                <a:cs typeface="Calibri" panose="020F0502020204030204" pitchFamily="34" charset="0"/>
              </a:rPr>
              <a:t>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p:cNvPicPr>
            <a:picLocks noChangeAspect="1"/>
          </p:cNvPicPr>
          <p:nvPr/>
        </p:nvPicPr>
        <p:blipFill>
          <a:blip r:embed="rId1"/>
          <a:stretch>
            <a:fillRect/>
          </a:stretch>
        </p:blipFill>
        <p:spPr>
          <a:xfrm>
            <a:off x="916054" y="1802785"/>
            <a:ext cx="8145012" cy="2591162"/>
          </a:xfrm>
          <a:prstGeom prst="rect">
            <a:avLst/>
          </a:prstGeom>
        </p:spPr>
      </p:pic>
      <p:sp>
        <p:nvSpPr>
          <p:cNvPr id="9" name="TextBox 8"/>
          <p:cNvSpPr txBox="1"/>
          <p:nvPr/>
        </p:nvSpPr>
        <p:spPr>
          <a:xfrm>
            <a:off x="916054" y="4514520"/>
            <a:ext cx="1181735" cy="460375"/>
          </a:xfrm>
          <a:prstGeom prst="rect">
            <a:avLst/>
          </a:prstGeom>
          <a:noFill/>
        </p:spPr>
        <p:txBody>
          <a:bodyPr wrap="none" rtlCol="0">
            <a:spAutoFit/>
          </a:bodyPr>
          <a:lstStyle/>
          <a:p>
            <a:r>
              <a:rPr lang="en-IN" sz="2400" b="1" dirty="0">
                <a:latin typeface="Times New Roman Bold" panose="02020503050405090304" charset="0"/>
                <a:ea typeface="Calibri" panose="020F0502020204030204" pitchFamily="34" charset="0"/>
                <a:cs typeface="Times New Roman Bold" panose="02020503050405090304" charset="0"/>
              </a:rPr>
              <a:t>Result</a:t>
            </a:r>
            <a:r>
              <a:rPr lang="en-IN" sz="2400" b="1" dirty="0">
                <a:latin typeface="Calibri" panose="020F0502020204030204" pitchFamily="34" charset="0"/>
                <a:ea typeface="Calibri" panose="020F0502020204030204" pitchFamily="34" charset="0"/>
                <a:cs typeface="Calibri" panose="020F0502020204030204" pitchFamily="34" charset="0"/>
              </a:rPr>
              <a:t>: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p:cNvPicPr>
            <a:picLocks noChangeAspect="1"/>
          </p:cNvPicPr>
          <p:nvPr/>
        </p:nvPicPr>
        <p:blipFill>
          <a:blip r:embed="rId2"/>
          <a:stretch>
            <a:fillRect/>
          </a:stretch>
        </p:blipFill>
        <p:spPr>
          <a:xfrm>
            <a:off x="916054" y="4976185"/>
            <a:ext cx="7431913" cy="15973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788" y="688797"/>
            <a:ext cx="10515600" cy="620395"/>
          </a:xfrm>
        </p:spPr>
        <p:txBody>
          <a:bodyPr>
            <a:normAutofit/>
          </a:bodyPr>
          <a:lstStyle/>
          <a:p>
            <a:r>
              <a:rPr lang="en-IN" sz="2400" b="1" dirty="0"/>
              <a:t>5)</a:t>
            </a:r>
            <a:r>
              <a:rPr lang="en-IN" sz="2400" b="1" dirty="0">
                <a:latin typeface="Times New Roman Bold" panose="02020503050405090304" charset="0"/>
                <a:cs typeface="Times New Roman Bold" panose="02020503050405090304" charset="0"/>
              </a:rPr>
              <a:t> </a:t>
            </a:r>
            <a:r>
              <a:rPr lang="en-US" sz="2400" b="1" dirty="0">
                <a:latin typeface="Times New Roman Bold" panose="02020503050405090304" charset="0"/>
                <a:cs typeface="Times New Roman Bold" panose="02020503050405090304" charset="0"/>
              </a:rPr>
              <a:t>Calculated total books loaned from each branch using aggregation functions.</a:t>
            </a:r>
            <a:r>
              <a:rPr lang="en-IN" sz="2400" b="1" dirty="0">
                <a:latin typeface="Times New Roman Bold" panose="02020503050405090304" charset="0"/>
                <a:cs typeface="Times New Roman Bold" panose="02020503050405090304" charset="0"/>
              </a:rPr>
              <a:t> </a:t>
            </a:r>
            <a:endParaRPr lang="en-IN" sz="2400" b="1" dirty="0">
              <a:latin typeface="Times New Roman Bold" panose="02020503050405090304" charset="0"/>
              <a:cs typeface="Times New Roman Bold" panose="02020503050405090304" charset="0"/>
            </a:endParaRPr>
          </a:p>
        </p:txBody>
      </p:sp>
      <p:sp>
        <p:nvSpPr>
          <p:cNvPr id="4" name="TextBox 3"/>
          <p:cNvSpPr txBox="1"/>
          <p:nvPr/>
        </p:nvSpPr>
        <p:spPr>
          <a:xfrm>
            <a:off x="838200" y="1432560"/>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1"/>
          <a:stretch>
            <a:fillRect/>
          </a:stretch>
        </p:blipFill>
        <p:spPr>
          <a:xfrm>
            <a:off x="838200" y="2017593"/>
            <a:ext cx="9640645" cy="1705213"/>
          </a:xfrm>
          <a:prstGeom prst="rect">
            <a:avLst/>
          </a:prstGeom>
        </p:spPr>
      </p:pic>
      <p:pic>
        <p:nvPicPr>
          <p:cNvPr id="8" name="Picture 7"/>
          <p:cNvPicPr>
            <a:picLocks noChangeAspect="1"/>
          </p:cNvPicPr>
          <p:nvPr/>
        </p:nvPicPr>
        <p:blipFill>
          <a:blip r:embed="rId2"/>
          <a:stretch>
            <a:fillRect/>
          </a:stretch>
        </p:blipFill>
        <p:spPr>
          <a:xfrm>
            <a:off x="837602" y="4570632"/>
            <a:ext cx="3086531" cy="1247949"/>
          </a:xfrm>
          <a:prstGeom prst="rect">
            <a:avLst/>
          </a:prstGeom>
        </p:spPr>
      </p:pic>
      <p:sp>
        <p:nvSpPr>
          <p:cNvPr id="9" name="TextBox 8"/>
          <p:cNvSpPr txBox="1"/>
          <p:nvPr/>
        </p:nvSpPr>
        <p:spPr>
          <a:xfrm>
            <a:off x="831788" y="4059534"/>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9445"/>
            <a:ext cx="10515600" cy="610235"/>
          </a:xfrm>
        </p:spPr>
        <p:txBody>
          <a:bodyPr>
            <a:normAutofit/>
          </a:bodyPr>
          <a:lstStyle/>
          <a:p>
            <a:r>
              <a:rPr lang="en-IN" sz="2400" b="1" dirty="0"/>
              <a:t>6) </a:t>
            </a:r>
            <a:r>
              <a:rPr lang="en-IN" sz="2400" b="1" dirty="0">
                <a:latin typeface="Times New Roman Bold" panose="02020503050405090304" charset="0"/>
                <a:cs typeface="Times New Roman Bold" panose="02020503050405090304" charset="0"/>
              </a:rPr>
              <a:t>Retrieved the details of all borrowers who checked out more than 5 books</a:t>
            </a:r>
            <a:endParaRPr lang="en-IN" sz="2400" b="1" dirty="0">
              <a:latin typeface="Times New Roman Bold" panose="02020503050405090304" charset="0"/>
              <a:cs typeface="Times New Roman Bold" panose="02020503050405090304" charset="0"/>
            </a:endParaRPr>
          </a:p>
        </p:txBody>
      </p:sp>
      <p:sp>
        <p:nvSpPr>
          <p:cNvPr id="4" name="TextBox 3"/>
          <p:cNvSpPr txBox="1"/>
          <p:nvPr/>
        </p:nvSpPr>
        <p:spPr>
          <a:xfrm>
            <a:off x="838200" y="1330960"/>
            <a:ext cx="1189990" cy="460375"/>
          </a:xfrm>
          <a:prstGeom prst="rect">
            <a:avLst/>
          </a:prstGeom>
          <a:noFill/>
        </p:spPr>
        <p:txBody>
          <a:bodyPr wrap="none" rtlCol="0">
            <a:spAutoFit/>
          </a:bodyPr>
          <a:lstStyle/>
          <a:p>
            <a:r>
              <a:rPr lang="en-IN" sz="2400" b="1" dirty="0">
                <a:latin typeface="Times New Roman Bold" panose="02020503050405090304" charset="0"/>
                <a:ea typeface="Calibri" panose="020F0502020204030204" pitchFamily="34" charset="0"/>
                <a:cs typeface="Times New Roman Bold" panose="02020503050405090304" charset="0"/>
              </a:rPr>
              <a:t>Query: </a:t>
            </a:r>
            <a:endParaRPr lang="en-IN" sz="2400" b="1" dirty="0">
              <a:latin typeface="Times New Roman Bold" panose="02020503050405090304" charset="0"/>
              <a:ea typeface="Calibri" panose="020F0502020204030204" pitchFamily="34" charset="0"/>
              <a:cs typeface="Times New Roman Bold" panose="02020503050405090304" charset="0"/>
            </a:endParaRPr>
          </a:p>
        </p:txBody>
      </p:sp>
      <p:pic>
        <p:nvPicPr>
          <p:cNvPr id="6" name="Picture 5"/>
          <p:cNvPicPr>
            <a:picLocks noChangeAspect="1"/>
          </p:cNvPicPr>
          <p:nvPr/>
        </p:nvPicPr>
        <p:blipFill>
          <a:blip r:embed="rId1"/>
          <a:stretch>
            <a:fillRect/>
          </a:stretch>
        </p:blipFill>
        <p:spPr>
          <a:xfrm>
            <a:off x="838200" y="1873905"/>
            <a:ext cx="11345573" cy="2179935"/>
          </a:xfrm>
          <a:prstGeom prst="rect">
            <a:avLst/>
          </a:prstGeom>
        </p:spPr>
      </p:pic>
      <p:sp>
        <p:nvSpPr>
          <p:cNvPr id="7" name="TextBox 6"/>
          <p:cNvSpPr txBox="1"/>
          <p:nvPr/>
        </p:nvSpPr>
        <p:spPr>
          <a:xfrm>
            <a:off x="838200" y="4216400"/>
            <a:ext cx="1198880" cy="460375"/>
          </a:xfrm>
          <a:prstGeom prst="rect">
            <a:avLst/>
          </a:prstGeom>
          <a:noFill/>
        </p:spPr>
        <p:txBody>
          <a:bodyPr wrap="none" rtlCol="0">
            <a:spAutoFit/>
          </a:bodyPr>
          <a:lstStyle/>
          <a:p>
            <a:r>
              <a:rPr lang="en-IN" sz="2400" b="1" dirty="0">
                <a:latin typeface="Times New Roman Bold" panose="02020503050405090304" charset="0"/>
                <a:ea typeface="Calibri" panose="020F0502020204030204" pitchFamily="34" charset="0"/>
                <a:cs typeface="Times New Roman Bold" panose="02020503050405090304" charset="0"/>
              </a:rPr>
              <a:t>Result:</a:t>
            </a:r>
            <a:r>
              <a:rPr lang="en-IN" sz="2400" b="1" dirty="0">
                <a:latin typeface="Calibri" panose="020F0502020204030204" pitchFamily="34" charset="0"/>
                <a:ea typeface="Calibri" panose="020F0502020204030204" pitchFamily="34" charset="0"/>
                <a:cs typeface="Calibri" panose="020F0502020204030204" pitchFamily="34" charset="0"/>
              </a:rPr>
              <a:t> </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p:cNvPicPr>
            <a:picLocks noChangeAspect="1"/>
          </p:cNvPicPr>
          <p:nvPr/>
        </p:nvPicPr>
        <p:blipFill>
          <a:blip r:embed="rId2"/>
          <a:srcRect b="10774"/>
          <a:stretch>
            <a:fillRect/>
          </a:stretch>
        </p:blipFill>
        <p:spPr>
          <a:xfrm>
            <a:off x="838200" y="4678065"/>
            <a:ext cx="6030167" cy="13514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610235"/>
          </a:xfrm>
        </p:spPr>
        <p:txBody>
          <a:bodyPr>
            <a:noAutofit/>
          </a:bodyPr>
          <a:lstStyle/>
          <a:p>
            <a:r>
              <a:rPr lang="en-IN" sz="2400" b="1" dirty="0"/>
              <a:t>7) </a:t>
            </a:r>
            <a:r>
              <a:rPr lang="en-US" sz="2400" b="1" dirty="0"/>
              <a:t>Retrieved the number of copies of books authored by Stephen King available in the Central branch.</a:t>
            </a:r>
            <a:endParaRPr lang="en-IN" sz="2400" b="1" dirty="0"/>
          </a:p>
        </p:txBody>
      </p:sp>
      <p:sp>
        <p:nvSpPr>
          <p:cNvPr id="4" name="TextBox 3"/>
          <p:cNvSpPr txBox="1"/>
          <p:nvPr/>
        </p:nvSpPr>
        <p:spPr>
          <a:xfrm>
            <a:off x="838200" y="1371600"/>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a:t>
            </a:r>
            <a:r>
              <a:rPr lang="en-IN" sz="2400" dirty="0">
                <a:latin typeface="Calibri" panose="020F0502020204030204" pitchFamily="34" charset="0"/>
                <a:ea typeface="Calibri" panose="020F0502020204030204" pitchFamily="34" charset="0"/>
                <a:cs typeface="Calibri" panose="020F0502020204030204" pitchFamily="34" charset="0"/>
              </a:rPr>
              <a:t> </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1"/>
          <a:stretch>
            <a:fillRect/>
          </a:stretch>
        </p:blipFill>
        <p:spPr>
          <a:xfrm>
            <a:off x="838200" y="1913593"/>
            <a:ext cx="7797800" cy="2318545"/>
          </a:xfrm>
          <a:prstGeom prst="rect">
            <a:avLst/>
          </a:prstGeom>
        </p:spPr>
      </p:pic>
      <p:pic>
        <p:nvPicPr>
          <p:cNvPr id="8" name="Picture 7"/>
          <p:cNvPicPr>
            <a:picLocks noChangeAspect="1"/>
          </p:cNvPicPr>
          <p:nvPr/>
        </p:nvPicPr>
        <p:blipFill>
          <a:blip r:embed="rId2"/>
          <a:stretch>
            <a:fillRect/>
          </a:stretch>
        </p:blipFill>
        <p:spPr>
          <a:xfrm>
            <a:off x="838200" y="4854459"/>
            <a:ext cx="3238952" cy="800212"/>
          </a:xfrm>
          <a:prstGeom prst="rect">
            <a:avLst/>
          </a:prstGeom>
        </p:spPr>
      </p:pic>
      <p:sp>
        <p:nvSpPr>
          <p:cNvPr id="9" name="TextBox 8"/>
          <p:cNvSpPr txBox="1"/>
          <p:nvPr/>
        </p:nvSpPr>
        <p:spPr>
          <a:xfrm>
            <a:off x="838200" y="4392794"/>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a:t>
            </a:r>
            <a:r>
              <a:rPr lang="en-IN" sz="2400" dirty="0">
                <a:latin typeface="Calibri" panose="020F0502020204030204" pitchFamily="34" charset="0"/>
                <a:ea typeface="Calibri" panose="020F0502020204030204" pitchFamily="34" charset="0"/>
                <a:cs typeface="Calibri" panose="020F0502020204030204" pitchFamily="34" charset="0"/>
              </a:rPr>
              <a:t> </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0235"/>
          </a:xfrm>
        </p:spPr>
        <p:txBody>
          <a:bodyPr>
            <a:normAutofit fontScale="90000"/>
          </a:bodyPr>
          <a:lstStyle/>
          <a:p>
            <a:br>
              <a:rPr lang="en-US"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br>
            <a:r>
              <a:rPr lang="en-US" b="1" dirty="0">
                <a:solidFill>
                  <a:srgbClr val="EA0000"/>
                </a:solidFill>
                <a:latin typeface="Times New Roman Bold" panose="02020503050405090304" charset="0"/>
                <a:ea typeface="Lato Black" panose="020F0502020204030203" pitchFamily="34" charset="0"/>
                <a:cs typeface="Times New Roman Bold" panose="02020503050405090304" charset="0"/>
              </a:rPr>
              <a:t>Final Business Insights and Recommendations</a:t>
            </a:r>
            <a:br>
              <a:rPr lang="en-US" b="1" dirty="0">
                <a:latin typeface="Times New Roman Bold" panose="02020503050405090304" charset="0"/>
                <a:cs typeface="Times New Roman Bold" panose="02020503050405090304" charset="0"/>
              </a:rPr>
            </a:br>
            <a:endParaRPr lang="en-IN" b="1" dirty="0">
              <a:latin typeface="Times New Roman Bold" panose="02020503050405090304" charset="0"/>
              <a:cs typeface="Times New Roman Bold" panose="02020503050405090304" charset="0"/>
            </a:endParaRPr>
          </a:p>
        </p:txBody>
      </p:sp>
      <p:sp>
        <p:nvSpPr>
          <p:cNvPr id="3" name="Text Placeholder 2"/>
          <p:cNvSpPr>
            <a:spLocks noGrp="1"/>
          </p:cNvSpPr>
          <p:nvPr>
            <p:ph type="body" idx="1"/>
          </p:nvPr>
        </p:nvSpPr>
        <p:spPr>
          <a:xfrm>
            <a:off x="838199" y="1083616"/>
            <a:ext cx="10714703" cy="5189365"/>
          </a:xfrm>
        </p:spPr>
        <p:txBody>
          <a:bodyPr>
            <a:normAutofit fontScale="77500" lnSpcReduction="20000"/>
          </a:bodyPr>
          <a:lstStyle/>
          <a:p>
            <a:pPr marL="114300" indent="0">
              <a:buNone/>
            </a:pPr>
            <a:r>
              <a:rPr lang="en-US" b="1" dirty="0">
                <a:latin typeface="Times New Roman" panose="02020503050405090304" pitchFamily="18" charset="0"/>
                <a:cs typeface="Times New Roman" panose="02020503050405090304" pitchFamily="18" charset="0"/>
              </a:rPr>
              <a:t> Insights:</a:t>
            </a:r>
            <a:endParaRPr lang="en-US" b="1"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Management can identify high-performing or underutilized branches and allocate staff and resources accordingly.</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Certain borrowers frequently borrow books (power users).</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Popular authors (e.g., Stephen King) have higher demand.</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The library can detect inactive members, reward loyal readers, and enforce borrowing policies.</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Due date tracking helps identify peak return days.</a:t>
            </a:r>
            <a:br>
              <a:rPr lang="en-US" dirty="0">
                <a:latin typeface="Times New Roman" panose="02020503050405090304" pitchFamily="18" charset="0"/>
                <a:cs typeface="Times New Roman" panose="02020503050405090304" pitchFamily="18" charset="0"/>
              </a:rPr>
            </a:br>
            <a:endParaRPr lang="en-US" dirty="0">
              <a:latin typeface="Times New Roman" panose="02020503050405090304" pitchFamily="18" charset="0"/>
              <a:cs typeface="Times New Roman" panose="02020503050405090304" pitchFamily="18" charset="0"/>
            </a:endParaRPr>
          </a:p>
          <a:p>
            <a:pPr marL="114300" indent="0">
              <a:buNone/>
            </a:pPr>
            <a:r>
              <a:rPr lang="en-US" b="1" dirty="0">
                <a:latin typeface="Times New Roman" panose="02020503050405090304" pitchFamily="18" charset="0"/>
                <a:cs typeface="Times New Roman" panose="02020503050405090304" pitchFamily="18" charset="0"/>
              </a:rPr>
              <a:t>Recommendations:</a:t>
            </a:r>
            <a:endParaRPr lang="en-US" b="1"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Implement automated low-stock alerts to prevent book shortages at branch level.</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Use branch-wise loan data to optimize staff allocation and operating hours.</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Launch engagement campaigns to reactivate inactive borrowers.</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Introduce automated due-date reminders to reduce late returns and penalties.</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Analyze author and genre trends regularly to guide future procurement decisions.</a:t>
            </a:r>
            <a:endParaRPr lang="en-US" dirty="0">
              <a:latin typeface="Times New Roman" panose="02020503050405090304" pitchFamily="18" charset="0"/>
              <a:cs typeface="Times New Roman" panose="02020503050405090304" pitchFamily="18" charset="0"/>
            </a:endParaRP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8805"/>
            <a:ext cx="10515600" cy="772795"/>
          </a:xfrm>
        </p:spPr>
        <p:txBody>
          <a:bodyPr>
            <a:normAutofit/>
          </a:bodyPr>
          <a:lstStyle/>
          <a:p>
            <a:r>
              <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Conclusion</a:t>
            </a:r>
            <a:endParaRPr lang="en-IN" sz="4000" b="1" dirty="0">
              <a:solidFill>
                <a:srgbClr val="EA0000"/>
              </a:solidFill>
              <a:latin typeface="Times New Roman Bold" panose="02020503050405090304" charset="0"/>
              <a:ea typeface="Lato Black" panose="020F0502020204030203" pitchFamily="34" charset="0"/>
              <a:cs typeface="Times New Roman Bold" panose="02020503050405090304" charset="0"/>
            </a:endParaRPr>
          </a:p>
        </p:txBody>
      </p:sp>
      <p:sp>
        <p:nvSpPr>
          <p:cNvPr id="4" name="Rectangle 1"/>
          <p:cNvSpPr>
            <a:spLocks noGrp="1" noChangeArrowheads="1"/>
          </p:cNvSpPr>
          <p:nvPr>
            <p:ph type="body" idx="1"/>
          </p:nvPr>
        </p:nvSpPr>
        <p:spPr bwMode="auto">
          <a:xfrm>
            <a:off x="838200" y="1585486"/>
            <a:ext cx="10455106"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Successfully designed and implemented a normalized relational database.</a:t>
            </a: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Established strong foreign key relationships.</a:t>
            </a: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Performed real-world analytical queries.</a:t>
            </a: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Demonstrated use of:</a:t>
            </a: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JOIN, GROUP BY</a:t>
            </a:r>
            <a:r>
              <a:rPr lang="en-US" altLang="en-US" sz="2600" dirty="0">
                <a:solidFill>
                  <a:schemeClr val="tx1"/>
                </a:solidFill>
                <a:latin typeface="Times New Roman" panose="02020503050405090304" pitchFamily="18" charset="0"/>
                <a:cs typeface="Times New Roman" panose="02020503050405090304" pitchFamily="18" charset="0"/>
              </a:rPr>
              <a:t>, </a:t>
            </a: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HAVING</a:t>
            </a:r>
            <a:r>
              <a:rPr lang="en-US" altLang="en-US" sz="2600" dirty="0">
                <a:solidFill>
                  <a:schemeClr val="tx1"/>
                </a:solidFill>
                <a:latin typeface="Times New Roman" panose="02020503050405090304" pitchFamily="18" charset="0"/>
                <a:cs typeface="Times New Roman" panose="02020503050405090304" pitchFamily="18" charset="0"/>
              </a:rPr>
              <a:t>, </a:t>
            </a: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Aggregation functions, Date filtering</a:t>
            </a: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Converted raw dataset into meaningful business insights.</a:t>
            </a:r>
            <a:endPar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3845"/>
            <a:ext cx="10876280" cy="1148715"/>
          </a:xfrm>
        </p:spPr>
        <p:txBody>
          <a:bodyPr>
            <a:normAutofit fontScale="90000"/>
          </a:bodyPr>
          <a:lstStyle/>
          <a:p>
            <a:br>
              <a:rPr lang="en-US" b="1" dirty="0">
                <a:latin typeface="Lato Black" panose="020F0502020204030203" pitchFamily="34" charset="0"/>
                <a:ea typeface="Lato Black" panose="020F0502020204030203" pitchFamily="34" charset="0"/>
                <a:cs typeface="Lato Black" panose="020F0502020204030203" pitchFamily="34" charset="0"/>
              </a:rPr>
            </a:br>
            <a:r>
              <a:rPr lang="en-US" sz="4000" b="1" dirty="0">
                <a:solidFill>
                  <a:srgbClr val="EA0000"/>
                </a:solidFill>
                <a:latin typeface="Times New Roman Bold" panose="02020503050405090304" charset="0"/>
                <a:ea typeface="Lato Black" panose="020F0502020204030203" pitchFamily="34" charset="0"/>
                <a:cs typeface="Times New Roman Bold" panose="02020503050405090304" charset="0"/>
              </a:rPr>
              <a:t>Experience/Challenges working on SQL – Data Analysis Project.</a:t>
            </a:r>
            <a:br>
              <a:rPr lang="en-US" b="1" dirty="0">
                <a:latin typeface="Times New Roman Bold" panose="02020503050405090304" charset="0"/>
                <a:cs typeface="Times New Roman Bold" panose="02020503050405090304" charset="0"/>
              </a:rPr>
            </a:br>
            <a:endParaRPr lang="en-IN" b="1" dirty="0">
              <a:latin typeface="Times New Roman Bold" panose="02020503050405090304" charset="0"/>
              <a:cs typeface="Times New Roman Bold" panose="02020503050405090304" charset="0"/>
            </a:endParaRPr>
          </a:p>
        </p:txBody>
      </p:sp>
      <p:sp>
        <p:nvSpPr>
          <p:cNvPr id="3" name="Text Placeholder 2"/>
          <p:cNvSpPr>
            <a:spLocks noGrp="1"/>
          </p:cNvSpPr>
          <p:nvPr>
            <p:ph type="body" idx="1"/>
          </p:nvPr>
        </p:nvSpPr>
        <p:spPr>
          <a:xfrm>
            <a:off x="838200" y="1513840"/>
            <a:ext cx="10622280" cy="4734560"/>
          </a:xfrm>
        </p:spPr>
        <p:txBody>
          <a:bodyPr>
            <a:normAutofit fontScale="85000" lnSpcReduction="20000"/>
          </a:bodyPr>
          <a:lstStyle/>
          <a:p>
            <a:pPr marL="114300" indent="0">
              <a:buNone/>
            </a:pPr>
            <a:r>
              <a:rPr lang="en-IN" b="1" dirty="0">
                <a:latin typeface="Times New Roman" panose="02020503050405090304" pitchFamily="18" charset="0"/>
                <a:cs typeface="Times New Roman" panose="02020503050405090304" pitchFamily="18" charset="0"/>
              </a:rPr>
              <a:t>Challenges Faced:</a:t>
            </a:r>
            <a:endParaRPr lang="en-IN" b="1"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IN" dirty="0">
                <a:latin typeface="Times New Roman" panose="02020503050405090304" pitchFamily="18" charset="0"/>
                <a:cs typeface="Times New Roman" panose="02020503050405090304" pitchFamily="18" charset="0"/>
              </a:rPr>
              <a:t>Date format issues during CSV import.</a:t>
            </a:r>
            <a:endParaRPr lang="en-IN"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IN" dirty="0">
                <a:latin typeface="Times New Roman" panose="02020503050405090304" pitchFamily="18" charset="0"/>
                <a:cs typeface="Times New Roman" panose="02020503050405090304" pitchFamily="18" charset="0"/>
              </a:rPr>
              <a:t>Foreign key constraints preventing table deletion.</a:t>
            </a:r>
            <a:endParaRPr lang="en-IN"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IN" dirty="0">
                <a:latin typeface="Times New Roman" panose="02020503050405090304" pitchFamily="18" charset="0"/>
                <a:cs typeface="Times New Roman" panose="02020503050405090304" pitchFamily="18" charset="0"/>
              </a:rPr>
              <a:t>Understanding JOIN relationships.</a:t>
            </a:r>
            <a:endParaRPr lang="en-IN"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IN" dirty="0">
                <a:latin typeface="Times New Roman" panose="02020503050405090304" pitchFamily="18" charset="0"/>
                <a:cs typeface="Times New Roman" panose="02020503050405090304" pitchFamily="18" charset="0"/>
              </a:rPr>
              <a:t>Faced Encoding(UTF-8) issues while importing the CSV files</a:t>
            </a:r>
            <a:endParaRPr lang="en-IN"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IN" dirty="0">
                <a:latin typeface="Times New Roman" panose="02020503050405090304" pitchFamily="18" charset="0"/>
                <a:cs typeface="Times New Roman" panose="02020503050405090304" pitchFamily="18" charset="0"/>
              </a:rPr>
              <a:t>Handling AUTO_INCREMENT behaviour.</a:t>
            </a:r>
            <a:endParaRPr lang="en-IN" dirty="0">
              <a:latin typeface="Times New Roman" panose="02020503050405090304" pitchFamily="18" charset="0"/>
              <a:cs typeface="Times New Roman" panose="02020503050405090304" pitchFamily="18" charset="0"/>
            </a:endParaRPr>
          </a:p>
          <a:p>
            <a:pPr marL="114300" indent="0">
              <a:buNone/>
            </a:pPr>
            <a:endParaRPr lang="en-IN" b="1" dirty="0">
              <a:latin typeface="Times New Roman" panose="02020503050405090304" pitchFamily="18" charset="0"/>
              <a:cs typeface="Times New Roman" panose="02020503050405090304" pitchFamily="18" charset="0"/>
            </a:endParaRPr>
          </a:p>
          <a:p>
            <a:pPr marL="114300" indent="0">
              <a:buNone/>
            </a:pPr>
            <a:r>
              <a:rPr lang="en-IN" b="1" dirty="0">
                <a:latin typeface="Times New Roman" panose="02020503050405090304" pitchFamily="18" charset="0"/>
                <a:cs typeface="Times New Roman" panose="02020503050405090304" pitchFamily="18" charset="0"/>
              </a:rPr>
              <a:t>Learning Outcomes:</a:t>
            </a:r>
            <a:endParaRPr lang="en-IN" b="1"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IN" dirty="0">
                <a:latin typeface="Times New Roman" panose="02020503050405090304" pitchFamily="18" charset="0"/>
                <a:cs typeface="Times New Roman" panose="02020503050405090304" pitchFamily="18" charset="0"/>
              </a:rPr>
              <a:t>Strong understanding of relational schema.</a:t>
            </a:r>
            <a:endParaRPr lang="en-IN"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IN" dirty="0">
                <a:latin typeface="Times New Roman" panose="02020503050405090304" pitchFamily="18" charset="0"/>
                <a:cs typeface="Times New Roman" panose="02020503050405090304" pitchFamily="18" charset="0"/>
              </a:rPr>
              <a:t>Improved debugging skills in SQL.</a:t>
            </a:r>
            <a:endParaRPr lang="en-IN"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IN" dirty="0">
                <a:latin typeface="Times New Roman" panose="02020503050405090304" pitchFamily="18" charset="0"/>
                <a:cs typeface="Times New Roman" panose="02020503050405090304" pitchFamily="18" charset="0"/>
              </a:rPr>
              <a:t>Practical knowledge of data import issues.</a:t>
            </a:r>
            <a:endParaRPr lang="en-IN"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IN" dirty="0">
                <a:latin typeface="Times New Roman" panose="02020503050405090304" pitchFamily="18" charset="0"/>
                <a:cs typeface="Times New Roman" panose="02020503050405090304" pitchFamily="18" charset="0"/>
              </a:rPr>
              <a:t>Better understanding of normalization and constraints.</a:t>
            </a:r>
            <a:endParaRPr lang="en-IN" dirty="0">
              <a:latin typeface="Times New Roman" panose="02020503050405090304" pitchFamily="18" charset="0"/>
              <a:cs typeface="Times New Roman" panose="02020503050405090304" pitchFamily="18" charset="0"/>
            </a:endParaRPr>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542" y="2172263"/>
            <a:ext cx="10515600" cy="1325563"/>
          </a:xfrm>
        </p:spPr>
        <p:txBody>
          <a:bodyPr/>
          <a:lstStyle/>
          <a:p>
            <a:pPr algn="ctr"/>
            <a:r>
              <a:rPr lang="en-US" altLang="en-IN" sz="5400" b="1" dirty="0">
                <a:solidFill>
                  <a:srgbClr val="EA0000"/>
                </a:solidFill>
                <a:latin typeface="Times New Roman Bold" panose="02020503050405090304" charset="0"/>
                <a:cs typeface="Times New Roman Bold" panose="02020503050405090304" charset="0"/>
              </a:rPr>
              <a:t>Q &amp; A</a:t>
            </a:r>
            <a:endParaRPr lang="en-US" altLang="en-IN" sz="5400" b="1" dirty="0">
              <a:solidFill>
                <a:srgbClr val="EA0000"/>
              </a:solidFill>
              <a:latin typeface="Times New Roman Bold" panose="02020503050405090304" charset="0"/>
              <a:cs typeface="Times New Roman Bold" panose="0202050305040509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5524</Words>
  <Application>WPS Spreadsheets</Application>
  <PresentationFormat>Widescreen</PresentationFormat>
  <Paragraphs>188</Paragraphs>
  <Slides>20</Slides>
  <Notes>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20</vt:i4>
      </vt:variant>
    </vt:vector>
  </HeadingPairs>
  <TitlesOfParts>
    <vt:vector size="38" baseType="lpstr">
      <vt:lpstr>Arial</vt:lpstr>
      <vt:lpstr>SimSun</vt:lpstr>
      <vt:lpstr>Wingdings</vt:lpstr>
      <vt:lpstr>Arial</vt:lpstr>
      <vt:lpstr>Calibri</vt:lpstr>
      <vt:lpstr>Helvetica Neue</vt:lpstr>
      <vt:lpstr>Times New Roman</vt:lpstr>
      <vt:lpstr>Lato Black</vt:lpstr>
      <vt:lpstr>Calibri</vt:lpstr>
      <vt:lpstr>Microsoft YaHei</vt:lpstr>
      <vt:lpstr>汉仪旗黑</vt:lpstr>
      <vt:lpstr>Arial Unicode MS</vt:lpstr>
      <vt:lpstr>Libre Baskerville</vt:lpstr>
      <vt:lpstr>宋体-简</vt:lpstr>
      <vt:lpstr>Times New Roman Regular</vt:lpstr>
      <vt:lpstr>Times New Roman Bold</vt:lpstr>
      <vt:lpstr>Wingdings</vt:lpstr>
      <vt:lpstr>Office Theme</vt:lpstr>
      <vt:lpstr>PowerPoint 演示文稿</vt:lpstr>
      <vt:lpstr>Agenda (This should be the PPT flow)  </vt:lpstr>
      <vt:lpstr>Business Problem Statement</vt:lpstr>
      <vt:lpstr>Introduction</vt:lpstr>
      <vt:lpstr>Objective of the Project</vt:lpstr>
      <vt:lpstr> ER Diagram and schema </vt:lpstr>
      <vt:lpstr>ER Diagram and schema</vt:lpstr>
      <vt:lpstr> Key analysis questions (use cases) </vt:lpstr>
      <vt:lpstr>SQL query results  1) Retrieved the number of copies of “The Lost Tribe” available in the Sharpstown branch.</vt:lpstr>
      <vt:lpstr>2) Calculated “The Lost Tribe” book copies owned by each library branch.</vt:lpstr>
      <vt:lpstr>3) Identified borrowers who currently have no books checked out using LEFT JOIN.</vt:lpstr>
      <vt:lpstr>4) Retrieved books due on a specific date from a specific branch.</vt:lpstr>
      <vt:lpstr>5) Calculated total books loaned from each branch using aggregation functions. </vt:lpstr>
      <vt:lpstr>6) Retrieved the details of all borrowers who checked out more than 5 books</vt:lpstr>
      <vt:lpstr>7) Retrieved the number of copies of books authored by Stephen King available in the Central branch.</vt:lpstr>
      <vt:lpstr> Final business insights and recommendations </vt:lpstr>
      <vt:lpstr>Conclusion</vt:lpstr>
      <vt:lpstr> Experience/Challenges working on SQL – Data Analysis Project. </vt:lpstr>
      <vt:lpstr>Any Queries?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Abhinav Reddy</cp:lastModifiedBy>
  <cp:revision>4</cp:revision>
  <dcterms:created xsi:type="dcterms:W3CDTF">2026-02-14T05:22:29Z</dcterms:created>
  <dcterms:modified xsi:type="dcterms:W3CDTF">2026-02-14T05:22:29Z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535BD2B37AE39D699506906906784489_42</vt:lpwstr>
  </property>
  <property fmtid="{D5CDD505-2E9C-101B-9397-08002B2CF9AE}" pid="3" name="KSOProductBuildVer">
    <vt:lpwstr>1033-6.15.0.8733</vt:lpwstr>
  </property>
</Properties>
</file>